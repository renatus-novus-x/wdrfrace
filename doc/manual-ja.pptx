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dcbf53e32a14ee2" /><Relationship Type="http://schemas.openxmlformats.org/officeDocument/2006/relationships/extended-properties" Target="/docProps/app.xml" Id="R17cd2d6c7d9a477d" /><Relationship Type="http://schemas.openxmlformats.org/officeDocument/2006/relationships/officeDocument" Target="/ppt/presentation.xml" Id="R4a230af17ea54d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da155fa2e849e3"/>
  </p:sldMasterIdLst>
  <p:notesMasterIdLst>
    <p:notesMasterId xmlns:r="http://schemas.openxmlformats.org/officeDocument/2006/relationships" r:id="R4b26e823a4504019"/>
  </p:notesMasterIdLst>
  <p:sldIdLst>
    <p:sldId xmlns:r="http://schemas.openxmlformats.org/officeDocument/2006/relationships" id="256" r:id="R8f2cb37808be4240"/>
    <p:sldId xmlns:r="http://schemas.openxmlformats.org/officeDocument/2006/relationships" id="257" r:id="Rad30d4f7936140cd"/>
    <p:sldId xmlns:r="http://schemas.openxmlformats.org/officeDocument/2006/relationships" id="258" r:id="Rc922ed015abc4192"/>
    <p:sldId xmlns:r="http://schemas.openxmlformats.org/officeDocument/2006/relationships" id="259" r:id="R07c4c9dd35a54c31"/>
    <p:sldId xmlns:r="http://schemas.openxmlformats.org/officeDocument/2006/relationships" id="260" r:id="R20e75f489792484f"/>
    <p:sldId xmlns:r="http://schemas.openxmlformats.org/officeDocument/2006/relationships" id="261" r:id="Rf78075ffc4fc4f98"/>
    <p:sldId xmlns:r="http://schemas.openxmlformats.org/officeDocument/2006/relationships" id="262" r:id="Re442a62388a14aef"/>
    <p:sldId xmlns:r="http://schemas.openxmlformats.org/officeDocument/2006/relationships" id="263" r:id="Rd3025e6abd53480f"/>
    <p:sldId xmlns:r="http://schemas.openxmlformats.org/officeDocument/2006/relationships" id="264" r:id="R89e0263a9fae4d59"/>
    <p:sldId xmlns:r="http://schemas.openxmlformats.org/officeDocument/2006/relationships" id="265" r:id="R02005accb33d4986"/>
    <p:sldId xmlns:r="http://schemas.openxmlformats.org/officeDocument/2006/relationships" id="266" r:id="Rab8635f3df74450c"/>
    <p:sldId xmlns:r="http://schemas.openxmlformats.org/officeDocument/2006/relationships" id="267" r:id="R9baefe4aac4a4340"/>
    <p:sldId xmlns:r="http://schemas.openxmlformats.org/officeDocument/2006/relationships" id="268" r:id="R9022c30be6234737"/>
    <p:sldId xmlns:r="http://schemas.openxmlformats.org/officeDocument/2006/relationships" id="269" r:id="R7022e1712ce64fbc"/>
    <p:sldId xmlns:r="http://schemas.openxmlformats.org/officeDocument/2006/relationships" id="270" r:id="R69976843b83147f4"/>
    <p:sldId xmlns:r="http://schemas.openxmlformats.org/officeDocument/2006/relationships" id="271" r:id="R18477e5276e34451"/>
    <p:sldId xmlns:r="http://schemas.openxmlformats.org/officeDocument/2006/relationships" id="272" r:id="R80282da85f8d44c2"/>
  </p:sldIdLst>
  <p:sldSz cx="1143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8b5bb2407f747cf" /><Relationship Type="http://schemas.openxmlformats.org/officeDocument/2006/relationships/slideMaster" Target="/ppt/slideMasters/slideMaster1.xml" Id="R3bda155fa2e849e3" /><Relationship Type="http://schemas.openxmlformats.org/officeDocument/2006/relationships/notesMaster" Target="/ppt/notesMasters/notesMaster1.xml" Id="R4b26e823a4504019" /><Relationship Type="http://schemas.openxmlformats.org/officeDocument/2006/relationships/presProps" Target="/ppt/presProps.xml" Id="R7aede9bcecbf41d7" /><Relationship Type="http://schemas.openxmlformats.org/officeDocument/2006/relationships/tableStyles" Target="/ppt/tableStyles.xml" Id="Rc94174f1bc6d4366" /><Relationship Type="http://schemas.openxmlformats.org/officeDocument/2006/relationships/slide" Target="/ppt/slides/slide1.xml" Id="R8f2cb37808be4240" /><Relationship Type="http://schemas.openxmlformats.org/officeDocument/2006/relationships/slide" Target="/ppt/slides/slide2.xml" Id="Rad30d4f7936140cd" /><Relationship Type="http://schemas.openxmlformats.org/officeDocument/2006/relationships/slide" Target="/ppt/slides/slide3.xml" Id="Rc922ed015abc4192" /><Relationship Type="http://schemas.openxmlformats.org/officeDocument/2006/relationships/slide" Target="/ppt/slides/slide4.xml" Id="R07c4c9dd35a54c31" /><Relationship Type="http://schemas.openxmlformats.org/officeDocument/2006/relationships/slide" Target="/ppt/slides/slide5.xml" Id="R20e75f489792484f" /><Relationship Type="http://schemas.openxmlformats.org/officeDocument/2006/relationships/slide" Target="/ppt/slides/slide6.xml" Id="Rf78075ffc4fc4f98" /><Relationship Type="http://schemas.openxmlformats.org/officeDocument/2006/relationships/slide" Target="/ppt/slides/slide7.xml" Id="Re442a62388a14aef" /><Relationship Type="http://schemas.openxmlformats.org/officeDocument/2006/relationships/slide" Target="/ppt/slides/slide8.xml" Id="Rd3025e6abd53480f" /><Relationship Type="http://schemas.openxmlformats.org/officeDocument/2006/relationships/slide" Target="/ppt/slides/slide9.xml" Id="R89e0263a9fae4d59" /><Relationship Type="http://schemas.openxmlformats.org/officeDocument/2006/relationships/slide" Target="/ppt/slides/slide10.xml" Id="R02005accb33d4986" /><Relationship Type="http://schemas.openxmlformats.org/officeDocument/2006/relationships/slide" Target="/ppt/slides/slide11.xml" Id="Rab8635f3df74450c" /><Relationship Type="http://schemas.openxmlformats.org/officeDocument/2006/relationships/slide" Target="/ppt/slides/slide12.xml" Id="R9baefe4aac4a4340" /><Relationship Type="http://schemas.openxmlformats.org/officeDocument/2006/relationships/slide" Target="/ppt/slides/slide13.xml" Id="R9022c30be6234737" /><Relationship Type="http://schemas.openxmlformats.org/officeDocument/2006/relationships/slide" Target="/ppt/slides/slide14.xml" Id="R7022e1712ce64fbc" /><Relationship Type="http://schemas.openxmlformats.org/officeDocument/2006/relationships/slide" Target="/ppt/slides/slide15.xml" Id="R69976843b83147f4" /><Relationship Type="http://schemas.openxmlformats.org/officeDocument/2006/relationships/slide" Target="/ppt/slides/slide16.xml" Id="R18477e5276e34451" /><Relationship Type="http://schemas.openxmlformats.org/officeDocument/2006/relationships/slide" Target="/ppt/slides/slide17.xml" Id="R80282da85f8d44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f02ec78730c47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0ea4161e1548a4" /><Relationship Type="http://schemas.openxmlformats.org/officeDocument/2006/relationships/notesMaster" Target="/ppt/notesMasters/notesMaster1.xml" Id="R8a2831be51524a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baff98e4f04f0f" /><Relationship Type="http://schemas.openxmlformats.org/officeDocument/2006/relationships/notesMaster" Target="/ppt/notesMasters/notesMaster1.xml" Id="Rde93f1b134b149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397b18fc254c1e" /><Relationship Type="http://schemas.openxmlformats.org/officeDocument/2006/relationships/notesMaster" Target="/ppt/notesMasters/notesMaster1.xml" Id="R45d155a2f07f49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ad71d5616394954" /><Relationship Type="http://schemas.openxmlformats.org/officeDocument/2006/relationships/notesMaster" Target="/ppt/notesMasters/notesMaster1.xml" Id="R80cdb37cf37146f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60005811d2d4550" /><Relationship Type="http://schemas.openxmlformats.org/officeDocument/2006/relationships/notesMaster" Target="/ppt/notesMasters/notesMaster1.xml" Id="Rf6d0dad0fa964b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c93585e3b1478c" /><Relationship Type="http://schemas.openxmlformats.org/officeDocument/2006/relationships/notesMaster" Target="/ppt/notesMasters/notesMaster1.xml" Id="Rcff630bfe0c74a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e2732c83454198" /><Relationship Type="http://schemas.openxmlformats.org/officeDocument/2006/relationships/notesMaster" Target="/ppt/notesMasters/notesMaster1.xml" Id="Rdf3c16963c1445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07dd90de6544f0" /><Relationship Type="http://schemas.openxmlformats.org/officeDocument/2006/relationships/notesMaster" Target="/ppt/notesMasters/notesMaster1.xml" Id="Rfb030427f102458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d5f4cfb50b4e4e" /><Relationship Type="http://schemas.openxmlformats.org/officeDocument/2006/relationships/notesMaster" Target="/ppt/notesMasters/notesMaster1.xml" Id="R14d8d03daafa4b7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8936ce15f044d5" /><Relationship Type="http://schemas.openxmlformats.org/officeDocument/2006/relationships/notesMaster" Target="/ppt/notesMasters/notesMaster1.xml" Id="R5ddf864e49d3494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a3ec53842d74758" /><Relationship Type="http://schemas.openxmlformats.org/officeDocument/2006/relationships/notesMaster" Target="/ppt/notesMasters/notesMaster1.xml" Id="Rbedaeab2001140c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35fcc732d7c473b" /><Relationship Type="http://schemas.openxmlformats.org/officeDocument/2006/relationships/notesMaster" Target="/ppt/notesMasters/notesMaster1.xml" Id="R23d7833358f84d1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7c9441007254be7" /><Relationship Type="http://schemas.openxmlformats.org/officeDocument/2006/relationships/notesMaster" Target="/ppt/notesMasters/notesMaster1.xml" Id="Ra75ff49b11d1404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171e7eef57f4f0e" /><Relationship Type="http://schemas.openxmlformats.org/officeDocument/2006/relationships/notesMaster" Target="/ppt/notesMasters/notesMaster1.xml" Id="R33d41f559716441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6d0f14051d04d34" /><Relationship Type="http://schemas.openxmlformats.org/officeDocument/2006/relationships/notesMaster" Target="/ppt/notesMasters/notesMaster1.xml" Id="R406564ee921a4ce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69045ec261a48b5" /><Relationship Type="http://schemas.openxmlformats.org/officeDocument/2006/relationships/notesMaster" Target="/ppt/notesMasters/notesMaster1.xml" Id="R3fa71b74695b4a2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7449d314860416f" /><Relationship Type="http://schemas.openxmlformats.org/officeDocument/2006/relationships/notesMaster" Target="/ppt/notesMasters/notesMaster1.xml" Id="Rf43865cfd8c94d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b6acd469c74d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2a3bdc0ac24bec" /><Relationship Type="http://schemas.openxmlformats.org/officeDocument/2006/relationships/slideLayout" Target="/ppt/slideLayouts/slideLayout1.xml" Id="Rba3a2bdb25ee4cf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3a2bdb25ee4c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7be55760604e95" /><Relationship Type="http://schemas.openxmlformats.org/officeDocument/2006/relationships/notesSlide" Target="/ppt/notesSlides/notesSlide1.xml" Id="Rb4ca1a4dca2745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dbe206f0a4cca" /><Relationship Type="http://schemas.openxmlformats.org/officeDocument/2006/relationships/notesSlide" Target="/ppt/notesSlides/notesSlide2.xml" Id="R28314db86506478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e185bedda481a" /><Relationship Type="http://schemas.openxmlformats.org/officeDocument/2006/relationships/notesSlide" Target="/ppt/notesSlides/notesSlide3.xml" Id="R067a9ea738504c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8711cc949544d6" /><Relationship Type="http://schemas.openxmlformats.org/officeDocument/2006/relationships/notesSlide" Target="/ppt/notesSlides/notesSlide4.xml" Id="Rc8541bd5ed1042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e3bf1f276b4d89" /><Relationship Type="http://schemas.openxmlformats.org/officeDocument/2006/relationships/notesSlide" Target="/ppt/notesSlides/notesSlide5.xml" Id="Rbacb491821b646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aa492a070496d" /><Relationship Type="http://schemas.openxmlformats.org/officeDocument/2006/relationships/notesSlide" Target="/ppt/notesSlides/notesSlide6.xml" Id="R7a05bc0fff6d4f8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3de6bfa384a1f" /><Relationship Type="http://schemas.openxmlformats.org/officeDocument/2006/relationships/notesSlide" Target="/ppt/notesSlides/notesSlide7.xml" Id="Rc44d9770751144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88786d9bd4f6b" /><Relationship Type="http://schemas.openxmlformats.org/officeDocument/2006/relationships/notesSlide" Target="/ppt/notesSlides/notesSlide8.xml" Id="R768977f9730c41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68ef059ad94328" /><Relationship Type="http://schemas.openxmlformats.org/officeDocument/2006/relationships/notesSlide" Target="/ppt/notesSlides/notesSlide9.xml" Id="R76328c79773146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7817bc8c844a6" /><Relationship Type="http://schemas.openxmlformats.org/officeDocument/2006/relationships/notesSlide" Target="/ppt/notesSlides/notesSlide10.xml" Id="R717f31f9c8d1441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78ad6073f433a" /><Relationship Type="http://schemas.openxmlformats.org/officeDocument/2006/relationships/notesSlide" Target="/ppt/notesSlides/notesSlide11.xml" Id="Rafb11fd2ae19413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10ffcd91b40dc" /><Relationship Type="http://schemas.openxmlformats.org/officeDocument/2006/relationships/notesSlide" Target="/ppt/notesSlides/notesSlide12.xml" Id="Rc9e0e91fe756497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537ff38b2640c1" /><Relationship Type="http://schemas.openxmlformats.org/officeDocument/2006/relationships/notesSlide" Target="/ppt/notesSlides/notesSlide13.xml" Id="Ra4bbdf26fbf845d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a19e542444f7b" /><Relationship Type="http://schemas.openxmlformats.org/officeDocument/2006/relationships/notesSlide" Target="/ppt/notesSlides/notesSlide14.xml" Id="R2d9c9601adb14a1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5161c429c84252" /><Relationship Type="http://schemas.openxmlformats.org/officeDocument/2006/relationships/notesSlide" Target="/ppt/notesSlides/notesSlide15.xml" Id="Rab05f8b905da42d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b2c64a5554a58" /><Relationship Type="http://schemas.openxmlformats.org/officeDocument/2006/relationships/notesSlide" Target="/ppt/notesSlides/notesSlide16.xml" Id="Ref6fde747b24437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2158cd8d86471c" /><Relationship Type="http://schemas.openxmlformats.org/officeDocument/2006/relationships/notesSlide" Target="/ppt/notesSlides/notesSlide17.xml" Id="R93865454cd7a41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1941A4-21BC-4D4C-9292-C5170C7F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EA8BD-1002-4F94-AD73-08CB8839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35F2EA"/>
                </a:solidFill>
              </a:defRPr>
            </a:pPr>
            <a:r>
              <a:rPr sz="1275" b="1">
                <a:solidFill>
                  <a:srgbClr val="35F2EA"/>
                </a:solidFill>
              </a:rPr>
              <a:t>JAPANESE 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B9F77-7925-457F-B94B-59D73301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3FBFF"/>
                </a:solidFill>
              </a:defRPr>
            </a:pPr>
            <a:r>
              <a:rPr sz="4800" b="1">
                <a:solidFill>
                  <a:srgbClr val="F3FBFF"/>
                </a:solidFill>
              </a:rPr>
              <a:t>WIRE DRIFT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F0A415-B85A-4A71-9A1A-F2A3DEC3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0058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4800" b="1">
                <a:solidFill>
                  <a:srgbClr val="FF3ED1"/>
                </a:solidFill>
              </a:defRPr>
            </a:pPr>
            <a:r>
              <a:rPr sz="4800" b="1">
                <a:solidFill>
                  <a:srgbClr val="FF3ED1"/>
                </a:solidFill>
              </a:rPr>
              <a:t>RACERS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44ACF-69C9-4CD6-99CF-EA6B4E0D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0">
                <a:solidFill>
                  <a:srgbClr val="92A7B8"/>
                </a:solidFill>
              </a:defRPr>
            </a:pPr>
            <a:r>
              <a:rPr sz="1800" b="0">
                <a:solidFill>
                  <a:srgbClr val="92A7B8"/>
                </a:solidFill>
              </a:rPr>
              <a:t>X68000 ワイヤーフレーム・バトルレース 取扱説明書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3FC53-8E26-4D39-99BA-F740E61D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D90CE-39D8-40D6-A99A-C48FDD0A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5179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029E34-72A3-4E84-BED3-F7F5D189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107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0A2039-A938-4FA5-8699-9A99C517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1036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4A50F8-E244-4C3D-A754-697CC38CA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693964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D8703D-E2FE-4158-B1D4-86BD8369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2081893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8CB1B-2D47-493D-8604-BCA5066C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346982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5A72E-8EEE-4E2B-A6F4-48101776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143500"/>
            <a:ext cx="485775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DD65B9-282F-4B18-AF21-72F4392C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02" y="5634038"/>
            <a:ext cx="225399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B19E6-C70D-4F25-BF9F-F7C1C691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5314" y="6129338"/>
            <a:ext cx="411937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A89C7-B919-4B96-AF1A-CD82A5BF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626" y="6624638"/>
            <a:ext cx="5984748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E7484B-E573-4C42-9FFF-B336E2E3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9938" y="7119938"/>
            <a:ext cx="785012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0B8162-0B7A-4D3A-9A95-13F1BA3C6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615238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D2637F-F2C6-4F95-AEED-5DAE9598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495800"/>
            <a:ext cx="4667250" cy="17621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4F83EA-FF84-4BD9-92B3-847DF625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848225"/>
            <a:ext cx="2800350" cy="10572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8E227D-1264-4A90-B0E9-3D50C525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905500"/>
            <a:ext cx="38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47481F-64D9-43A4-A5C5-4EAC9210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710238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92F5E9-06EE-479B-8790-B228B42E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6319" y="5781675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42A314-D8CA-4DC4-8719-E3E2A6F9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4113" y="5510213"/>
            <a:ext cx="600075" cy="31432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35E295-7340-4976-8C42-636C9026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844" y="5581650"/>
            <a:ext cx="328613" cy="164306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DF1A5E-6225-4815-8C22-1A0E4312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3FBFF"/>
                </a:solidFill>
              </a:defRPr>
            </a:pPr>
            <a:r>
              <a:rPr sz="1650" b="1">
                <a:solidFill>
                  <a:srgbClr val="F3FBFF"/>
                </a:solidFill>
              </a:rPr>
              <a:t>3周。2台。勝者はひとり。</a:t>
            </a:r>
          </a:p>
        </p:txBody>
      </p:sp>
    </p:spTree>
    <p:extLst>
      <p:ext uri="{BB962C8B-B14F-4D97-AF65-F5344CB8AC3E}">
        <p14:creationId xmlns:p14="http://schemas.microsoft.com/office/powerpoint/2010/main" val="16037356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7D118D-35F4-46FD-A2C0-88B2D74D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3D90D7-1338-465E-8CA0-7B059702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89BFC-2444-4C0D-AE95-788B29BE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7DCC0-0CAB-4871-AD66-D61C5746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光のリングで、3周だけの戦いが始まる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DBAAF1-DED0-424A-8BF0-4F350986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191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6000"/>
              </a:lnSpc>
              <a:buNone/>
              <a:defRPr sz="1875" b="0">
                <a:solidFill>
                  <a:srgbClr val="F3FBFF"/>
                </a:solidFill>
              </a:defRPr>
            </a:pPr>
            <a:r>
              <a:rPr sz="1875" b="0">
                <a:solidFill>
                  <a:srgbClr val="F3FBFF"/>
                </a:solidFill>
              </a:rPr>
              <a:t>西暦2088年。巨大都市の上空に、道路もマシンも光の線だけで形作られた新競技『WIRE DRIFT』が誕生した。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BD996-5965-4CFB-B649-C11E62D8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38300"/>
            <a:ext cx="3143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19568-D20A-4F0B-9B88-53A307E1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1885950"/>
            <a:ext cx="1885950" cy="7429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5AE8E3-F557-44C9-9B95-9E8892D6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28900"/>
            <a:ext cx="381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5B1C2-FFA6-4A31-920D-79458131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349" y="246278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F8B860-E502-41B9-BA1A-C28EF271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251231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7B7971-B052-4084-BAE3-072733BC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0274" y="2253234"/>
            <a:ext cx="416052" cy="21793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4813C6-B318-40AF-AE3A-2EF28CED6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381" y="2302764"/>
            <a:ext cx="227838" cy="113919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926A81-CC2F-4B9C-9639-A65FFB0F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97DFA-5FFB-4596-AE93-EC02CDCC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TAKE THE 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AF7DB9-CC98-4EAD-8863-50209B10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最速ラインだけでは勝てない。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9BDBBC-31D2-4B52-A4A1-911524B0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03DBE2-2BEF-4510-8D1A-C4345341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TAKE THE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E75F56-9C03-41AE-AC8B-705F33A7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ブーストを生むゲートへ飛び込め。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5E1314-BAFF-449C-A4F7-39444027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CE20AD-D0DA-43DC-83B2-CB27D75D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623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TAKE THE RIVAL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83C611-E6B9-4EFD-BE02-8B6455E4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148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接近戦はドリフトタックルで決める。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C9ACC6-5BC3-4D3A-9068-26EC902A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1D10F4-0632-4731-9127-13302BB4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81004A-C73D-4E41-BCBF-5D7B5CEA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CE5A6D-7FC2-4E70-ADAB-7853752F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6FCAA4-3627-42C7-B0F9-D85E40CF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C6CEF0-7C9A-44C8-983B-D4AA24A4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02DA07-13E3-402A-8D97-4561087B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3A9683-EB5C-45FC-8988-9E24EE53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167092-ABCF-4909-80C5-221F5340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6C5538-7954-481C-9A4A-662FE916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3D0B83-182D-4D40-8EC8-37CA23D2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3225B6-5B89-445D-A2A3-41795DDB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3A9AC0-CC64-401A-8314-827584ED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5BAE1C-EC03-415B-BA08-3A292DBC4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2A46CA-00AC-41DD-9DAD-5B5BDE9B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7019925"/>
            <a:ext cx="19050" cy="600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6722CF-05EA-45E2-8B42-3CEB90898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70104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DC898A-D808-4DE0-85C9-868E0BB9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886575"/>
            <a:ext cx="190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0D6BD4-2C7A-4C95-A03B-C2072BECA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877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930EAF-CD18-42E5-B1B3-EBFC1DD9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6753225"/>
            <a:ext cx="190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33DEF7-8087-474B-AFE5-FAE1B536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67437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E36246-4037-4042-96D0-FBEA118F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7286625"/>
            <a:ext cx="190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4B125FF-D6CD-47B1-91F0-30436F6B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727710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50ED104-B929-4C00-8B0C-1E3110E4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7153275"/>
            <a:ext cx="1905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4B0BA4-79D4-4780-9C1E-3662F1FE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71437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9877EC7-658A-49F6-AC0E-38F143B8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B069813-60F7-462C-B548-27D799E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81A2A9D-D0FB-444D-B693-B53BEC87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2424079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0F03C7-1981-4127-9982-1EE49918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408D10-5293-41B2-B58C-58E63E5C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OBJECTIVE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5BB32-8ED8-4DF5-9D9F-72EC29F2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1743D-A960-48D5-AB92-9B1ED875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先に3周すれば勝利。ただし最後まで逆転できる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D829C2-4783-4D35-A0DF-9D6E15F5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2672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0EF2F2-7BC5-43E5-A7CD-3195DA45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240" y="2686050"/>
            <a:ext cx="2560320" cy="20574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1BBF87-1C40-49AD-8AE5-F0E85409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743450"/>
            <a:ext cx="3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C0CF43-7E62-4342-B6F6-44F997B3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" y="428244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7A73F-58C3-4D92-8685-C18F3253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4498" y="434911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59E5B-5B2E-4C86-9DB7-ED971D3A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2777490"/>
            <a:ext cx="560070" cy="293370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ED5250-FF7E-4FE6-AFAF-7A5C25BD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0448" y="2844165"/>
            <a:ext cx="306705" cy="1533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ED34A-556D-40CA-94B6-F725AA4E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81300"/>
            <a:ext cx="219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8400" b="1">
                <a:solidFill>
                  <a:srgbClr val="FF3ED1"/>
                </a:solidFill>
              </a:defRPr>
            </a:pPr>
            <a:r>
              <a:rPr sz="8400" b="1">
                <a:solidFill>
                  <a:srgbClr val="FF3ED1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F117E-251A-49CA-B46B-3D0192714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0195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950" b="1">
                <a:solidFill>
                  <a:srgbClr val="F3FBFF"/>
                </a:solidFill>
              </a:defRPr>
            </a:pPr>
            <a:r>
              <a:rPr sz="1950" b="1">
                <a:solidFill>
                  <a:srgbClr val="F3FBFF"/>
                </a:solidFill>
              </a:rPr>
              <a:t>LAPS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11127C-D533-40F9-B0C1-410A1C6C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133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32EEE9-CD98-42ED-A1A3-EF9D58E9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97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5265"/>
                </a:solidFill>
              </a:defRPr>
            </a:pPr>
            <a:r>
              <a:rPr sz="1500" b="1">
                <a:solidFill>
                  <a:srgbClr val="FF5265"/>
                </a:solidFill>
              </a:rPr>
              <a:t>1 PLAYER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AE8D74-6D70-4F58-9831-A3FE2577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赤いP1マシンで青いCPUと対戦。CPU LEVELは1〜5。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1CAD70-AEAB-4B16-85E3-3B912D89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71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1E7D00-344F-4017-9496-476530CA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480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648BFF"/>
                </a:solidFill>
              </a:defRPr>
            </a:pPr>
            <a:r>
              <a:rPr sz="1500" b="1">
                <a:solidFill>
                  <a:srgbClr val="648BFF"/>
                </a:solidFill>
              </a:rPr>
              <a:t>2 PLAYERS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52FF57-B9EF-499A-A2AA-981825A6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1台のX68000で2人同時対戦。パッド2台にも対応。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ECF67E-6947-425B-9F53-8D4BB9B8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4102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F93474-0939-4258-B951-0E778E9B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86375"/>
            <a:ext cx="4533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DEAD HEAT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11B85-17DB-40CC-ADB2-E4E76B7A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38800"/>
            <a:ext cx="4533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同じ20 Hz物理更新で3周へ到達すると引き分け。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C6B1BF-08BF-424E-B6F6-4F60959B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A9B4A5-7738-41A8-891B-633704E2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E42757-AB8A-44F3-908E-91100582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0121412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2C9EA0-94EB-40D7-96BE-F881F05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F63E0-3B42-4287-BD87-BE1E2F60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STARTING THE GAME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830BF-A037-4F9C-81E7-848A0B34F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FE4243-495A-497B-9F36-07204295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タイトルからコースを選び、STARTへ進む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9A205-7006-4B7E-91F5-464939D3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EB65C-ED68-4DE9-AEC7-F4140C73D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モード選択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DA45C-089D-4015-BE81-5677DC1C7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128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AA3A4-351D-48E1-9023-3949B807F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368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DB923-7B9F-47C6-BB07-342C0193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CPU LEVEL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00199F-F509-47DD-8518-073C7534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296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5C4E5-1942-4471-AC81-F791F9BF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536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4DD9B-0938-40D8-9477-B42578FB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156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SELECT COURSE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6D447-683A-44D5-9C14-67DBE9B2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464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47E017-7E04-4DBC-9504-7DABA1CB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704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21534-23F5-4840-A611-F7C545DB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HOW TO PLAY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C9688-37AD-490F-BAE3-12105D03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6320" y="2352675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A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50E33-BBB6-4624-86A5-2C0C3CD72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8720" y="2019300"/>
            <a:ext cx="185928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0B5C3C-BB81-44DF-9720-A9947DBD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4920" y="2190750"/>
            <a:ext cx="170688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724959-2B31-4524-915B-FE8AB281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4B0684-DBBE-4B18-8B17-335AE6606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718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8A5B4F-4B10-4E66-8381-DC29FD80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290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上下で1P / 2Pを選択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BCC57F-2867-4875-843B-29B0353D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291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D99FF4-21D4-4B46-8919-F0B8A2A3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529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51C3FF-5A49-4925-963C-361C17C3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2100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左右でCPU LEVELを変更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570E26-1BA6-4D0C-82C9-7F6D68E3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E7DAFB-FBD1-4097-BD35-407FCF60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3397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A4243A-02E8-41BA-84C5-0A44F4AB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9911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決定後、左右でコースを選択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6DEB34-75C7-4E78-8CAF-F9CE0042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91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5F9B6D8-6A4E-4683-8A08-E4747E9B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150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2005A2-8ED0-4A4A-B2DB-8C537323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7215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F3FBFF"/>
                </a:solidFill>
              </a:defRPr>
            </a:pPr>
            <a:r>
              <a:rPr sz="1725" b="0">
                <a:solidFill>
                  <a:srgbClr val="F3FBFF"/>
                </a:solidFill>
              </a:rPr>
              <a:t>HOW TO PLAY確認後、READYへ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719C25-1B56-434E-84A2-71C420176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F9EBE9-7F3A-43F1-8D6D-143BA2FF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F321084-FF1E-4608-83DF-A442C9DF5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62962527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9EBB4EDF-A37C-465A-8ED1-35239641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0D19E213-9925-4CEA-87FD-47939277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F4D46AB6-1EC7-4842-A944-0A300A07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PART 1 / COURSE SELECT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2324877B-8EF1-4F2A-A19B-3463074D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7CAFD544-9E1D-4C36-BABD-22218144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回転するプレビューを見て、3つのコースから選ぶ</a:t>
            </a:r>
          </a:p>
        </p:txBody>
      </p:sp>
      <p:sp>
        <p:nvSpPr>
          <p:cNvPr id="6" name="divider-1">
            <a:extLst xmlns:a="http://schemas.openxmlformats.org/drawingml/2006/main">
              <a:ext uri="{FF2B5EF4-FFF2-40B4-BE49-F238E27FC236}">
                <a16:creationId xmlns:a16="http://schemas.microsoft.com/office/drawing/2014/main" id="{556DA1D3-C87F-4F92-BE5D-BF924E96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7" name="divider-2">
            <a:extLst xmlns:a="http://schemas.openxmlformats.org/drawingml/2006/main">
              <a:ext uri="{FF2B5EF4-FFF2-40B4-BE49-F238E27FC236}">
                <a16:creationId xmlns:a16="http://schemas.microsoft.com/office/drawing/2014/main" id="{AD6CEDAF-ACDE-4E44-B014-5E899AF1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66900"/>
            <a:ext cx="9525" cy="453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2F9D9A-F212-4202-B81F-1B7342F7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33600"/>
            <a:ext cx="26670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E6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FC8BAF-174F-47C6-9B08-358D81C3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" y="2426970"/>
            <a:ext cx="1706880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0" name="course-RING">
            <a:extLst xmlns:a="http://schemas.openxmlformats.org/drawingml/2006/main">
              <a:ext uri="{FF2B5EF4-FFF2-40B4-BE49-F238E27FC236}">
                <a16:creationId xmlns:a16="http://schemas.microsoft.com/office/drawing/2014/main" id="{981AEEA1-42D1-4536-8400-2BC405CA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0E6E6"/>
                </a:solidFill>
              </a:defRPr>
            </a:pPr>
            <a:r>
              <a:rPr sz="2400" b="1">
                <a:solidFill>
                  <a:srgbClr val="00E6E6"/>
                </a:solidFill>
              </a:rPr>
              <a:t>RING</a:t>
            </a:r>
          </a:p>
        </p:txBody>
      </p:sp>
      <p:sp>
        <p:nvSpPr>
          <p:cNvPr id="11" name="course-RING-body">
            <a:extLst xmlns:a="http://schemas.openxmlformats.org/drawingml/2006/main">
              <a:ext uri="{FF2B5EF4-FFF2-40B4-BE49-F238E27FC236}">
                <a16:creationId xmlns:a16="http://schemas.microsoft.com/office/drawing/2014/main" id="{5F8261EB-B85B-4FE2-991D-52E13054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均整の取れた標準リング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ゲートとタックルの基本を学ぶ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316CB-2609-425F-9A9C-3E811A10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133600"/>
            <a:ext cx="2895600" cy="14668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4F7F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62374B-C8E4-4571-8113-E24B93F5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4108" y="2426970"/>
            <a:ext cx="1853184" cy="88011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4" name="course-OVAL">
            <a:extLst xmlns:a="http://schemas.openxmlformats.org/drawingml/2006/main">
              <a:ext uri="{FF2B5EF4-FFF2-40B4-BE49-F238E27FC236}">
                <a16:creationId xmlns:a16="http://schemas.microsoft.com/office/drawing/2014/main" id="{79FEC0F3-A763-4E3C-AB1A-F3610985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4F7FA"/>
                </a:solidFill>
              </a:defRPr>
            </a:pPr>
            <a:r>
              <a:rPr sz="2400" b="1">
                <a:solidFill>
                  <a:srgbClr val="F4F7FA"/>
                </a:solidFill>
              </a:rPr>
              <a:t>OVAL</a:t>
            </a:r>
          </a:p>
        </p:txBody>
      </p:sp>
      <p:sp>
        <p:nvSpPr>
          <p:cNvPr id="15" name="course-OVAL-body">
            <a:extLst xmlns:a="http://schemas.openxmlformats.org/drawingml/2006/main">
              <a:ext uri="{FF2B5EF4-FFF2-40B4-BE49-F238E27FC236}">
                <a16:creationId xmlns:a16="http://schemas.microsoft.com/office/drawing/2014/main" id="{F959869E-BEA5-4EF3-88AE-EF4259771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横に広い高速オーバル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加速区間と長めのBOOSTをつなぐ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EBE521-3656-4838-8168-00500F9F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33600"/>
            <a:ext cx="2667000" cy="146685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35D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13B8F6-D8EA-44C1-8E8D-22682219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1060" y="2426970"/>
            <a:ext cx="1706880" cy="880110"/>
          </a:xfrm>
          <a:prstGeom xmlns:a="http://schemas.openxmlformats.org/drawingml/2006/main" prst="hexagon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8909C"/>
            </a:solidFill>
            <a:prstDash val="solid"/>
          </a:ln>
        </p:spPr>
      </p:sp>
      <p:sp>
        <p:nvSpPr>
          <p:cNvPr id="18" name="course-PULSE">
            <a:extLst xmlns:a="http://schemas.openxmlformats.org/drawingml/2006/main">
              <a:ext uri="{FF2B5EF4-FFF2-40B4-BE49-F238E27FC236}">
                <a16:creationId xmlns:a16="http://schemas.microsoft.com/office/drawing/2014/main" id="{5B836D78-18DB-4C7D-A0B3-CDA77D7A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35D3"/>
                </a:solidFill>
              </a:defRPr>
            </a:pPr>
            <a:r>
              <a:rPr sz="2400" b="1">
                <a:solidFill>
                  <a:srgbClr val="FF35D3"/>
                </a:solidFill>
              </a:rPr>
              <a:t>PULSE</a:t>
            </a:r>
          </a:p>
        </p:txBody>
      </p:sp>
      <p:sp>
        <p:nvSpPr>
          <p:cNvPr id="19" name="course-PULSE-body">
            <a:extLst xmlns:a="http://schemas.openxmlformats.org/drawingml/2006/main">
              <a:ext uri="{FF2B5EF4-FFF2-40B4-BE49-F238E27FC236}">
                <a16:creationId xmlns:a16="http://schemas.microsoft.com/office/drawing/2014/main" id="{1ADB1A36-FB7B-40C0-84D3-54702F6D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72000"/>
            <a:ext cx="28956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3頂点のテクニカルループ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F4F7FA"/>
                </a:solidFill>
              </a:defRPr>
            </a:pPr>
            <a:r>
              <a:rPr sz="1500" b="0">
                <a:solidFill>
                  <a:srgbClr val="F4F7FA"/>
                </a:solidFill>
              </a:rPr>
              <a:t>次の頂点とゲートを早めに読む</a:t>
            </a:r>
          </a:p>
        </p:txBody>
      </p:sp>
      <p:sp>
        <p:nvSpPr>
          <p:cNvPr id="20" name="control-rule">
            <a:extLst xmlns:a="http://schemas.openxmlformats.org/drawingml/2006/main">
              <a:ext uri="{FF2B5EF4-FFF2-40B4-BE49-F238E27FC236}">
                <a16:creationId xmlns:a16="http://schemas.microsoft.com/office/drawing/2014/main" id="{0692E1E7-A314-439C-AFF0-8FE92BD3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6667500"/>
            <a:ext cx="800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21" name="controls">
            <a:extLst xmlns:a="http://schemas.openxmlformats.org/drawingml/2006/main">
              <a:ext uri="{FF2B5EF4-FFF2-40B4-BE49-F238E27FC236}">
                <a16:creationId xmlns:a16="http://schemas.microsoft.com/office/drawing/2014/main" id="{5D949BC4-67FD-4BFE-945E-B8E0D256D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58000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LEFT / RIGHT  コース変更     SPACE / BUTTON 1  決定     ESC  タイトル</a:t>
            </a:r>
          </a:p>
        </p:txBody>
      </p:sp>
      <p:sp>
        <p:nvSpPr>
          <p:cNvPr id="22" name="common-rules">
            <a:extLst xmlns:a="http://schemas.openxmlformats.org/drawingml/2006/main">
              <a:ext uri="{FF2B5EF4-FFF2-40B4-BE49-F238E27FC236}">
                <a16:creationId xmlns:a16="http://schemas.microsoft.com/office/drawing/2014/main" id="{B19603BA-E7A0-464E-8053-F5419F42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48550"/>
            <a:ext cx="914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78909C"/>
                </a:solidFill>
              </a:defRPr>
            </a:pPr>
            <a:r>
              <a:rPr sz="1275" b="0">
                <a:solidFill>
                  <a:srgbClr val="78909C"/>
                </a:solidFill>
              </a:rPr>
              <a:t>全コース共通: 3 LAPS / 同一車両物理 / ACTIVE GATE / </a:t>
            </a:r>
            <a:r>
              <a:rPr sz="1275" b="0">
                <a:solidFill>
                  <a:srgbClr val="78909C"/>
                </a:solidFill>
              </a:rPr>
              <a:t>SLIPSTREAM + CATCH-UP</a:t>
            </a:r>
          </a:p>
        </p:txBody>
      </p:sp>
      <p:sp>
        <p:nvSpPr>
          <p:cNvPr id="2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6336594-36F0-41F1-BAA3-AB15A565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61C5EB0-3ADB-497B-9AF0-A880BB6E4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2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8E90FA47-D6C2-4EFE-82C1-5D4330AD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6274680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C5D83B-C7A5-40EB-A600-7FD3F259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02ECA-62EA-450C-A9FB-93F6DBE78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1 / CONTROLS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886E2-A317-4DF1-8D4A-C1E66D92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633D30-54D7-436C-9BEC-C6B32C84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操作は2人分を左右に分けて覚える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02C8C5-6533-4083-A656-20D3C4CF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5265"/>
                </a:solidFill>
              </a:defRPr>
            </a:pPr>
            <a:r>
              <a:rPr sz="1950" b="1">
                <a:solidFill>
                  <a:srgbClr val="FF5265"/>
                </a:solidFill>
              </a:rPr>
              <a:t>PLAYER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FD391-271C-4F33-A80F-0DEDBE52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243BFA-9579-44FF-919B-677E1C0A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加速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BBBE8D-EE01-49C9-BA7C-9AE9B875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6748B7-0606-46F9-94FB-66B6F8C9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W / PAD 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AF6E00-0E85-409A-A164-34309261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減速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BD799-A310-4AAD-93CC-A27CA5B5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46FEA-960B-4888-A012-326AF90D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S / PAD 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2E2E0A-427E-4C52-B6FB-B9C02E94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ドリフト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3771F-C2C2-453A-B593-61E9F2C0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C822CE-8317-4381-8DDA-02409ACE1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A・D / PAD ←→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7A1EED-975A-4559-BE97-48977D2A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ブースト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912239-4584-4952-AE13-E2D3275D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009CCA-85D2-4BEB-93A4-8C6F0E8A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Q / BUTTON 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92B551-CF3D-4BA3-9D26-933CD8A6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ブレーキ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781D8D-8A71-4A09-98FA-A1C1F630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922FF7-67E8-4AF5-A237-C98AFCEB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E / BUTTON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8D4FD6-4880-4008-9E7E-CD79EFF6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09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648BFF"/>
                </a:solidFill>
              </a:defRPr>
            </a:pPr>
            <a:r>
              <a:rPr sz="1950" b="1">
                <a:solidFill>
                  <a:srgbClr val="648BFF"/>
                </a:solidFill>
              </a:rPr>
              <a:t>PLAYER 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6A4DFB-3ACF-487E-9C71-A2585D5A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90763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6B02E7-4DCF-4B40-ADDD-3235C94B0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6193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加速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EF4FFA-00CD-4C6F-891F-24EA96B2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431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5E9578-1864-4562-912A-78D8CA78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384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↑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EC0527-9611-48CB-BA5A-DA212A97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385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減速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73A069-8609-4E44-891C-446AE5AD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623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654388-7A9C-4589-8F30-B9C9933A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575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↓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2CDD68-BD6F-451F-958F-DD583B54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2576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ドリフト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971FC5-C391-4F5C-8152-38243D1B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1814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35BF3A-BF8A-4439-962D-23FEC546A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767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CURSOR ←→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3B88CC-322A-4D25-B001-16353485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0768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ブースト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0F6851-D1C8-4F39-8A57-FF9D0FB4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0062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A3EE97-9E1B-48BD-836A-4167B0B0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9587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N / BUTTON 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360B4EC-BEB8-4D0E-ABC5-C1F22279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9597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92A7B8"/>
                </a:solidFill>
              </a:defRPr>
            </a:pPr>
            <a:r>
              <a:rPr sz="1425" b="1">
                <a:solidFill>
                  <a:srgbClr val="92A7B8"/>
                </a:solidFill>
              </a:rPr>
              <a:t>ブレーキ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8AEAEB-9EBD-436B-B920-782463EB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819775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8D286A-1315-4582-835A-B42423E4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915025"/>
            <a:ext cx="2362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3FBFF"/>
                </a:solidFill>
              </a:defRPr>
            </a:pPr>
            <a:r>
              <a:rPr sz="1425" b="1">
                <a:solidFill>
                  <a:srgbClr val="F3FBFF"/>
                </a:solidFill>
              </a:rPr>
              <a:t>M / BUTTON 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56E499-2AC8-44A7-85F1-D1C737D7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7162800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1">
                <a:solidFill>
                  <a:srgbClr val="FFD35A"/>
                </a:solidFill>
              </a:defRPr>
            </a:pPr>
            <a:r>
              <a:rPr sz="1425" b="1">
                <a:solidFill>
                  <a:srgbClr val="FFD35A"/>
                </a:solidFill>
              </a:rPr>
              <a:t>ESC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75B73E-2519-4BFF-9C1D-5C81BAE1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543800"/>
            <a:ext cx="3886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275" b="0">
                <a:solidFill>
                  <a:srgbClr val="92A7B8"/>
                </a:solidFill>
              </a:defRPr>
            </a:pPr>
            <a:r>
              <a:rPr sz="1275" b="0">
                <a:solidFill>
                  <a:srgbClr val="92A7B8"/>
                </a:solidFill>
              </a:rPr>
              <a:t>レース中はタイトルへ戻る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0BF4FD-3AC3-46F0-A19D-63FCFC9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7ED388-D8C5-4F5C-A03C-E00CA184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348541-ACC8-4C1D-B541-DB6EF578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819738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C3F2F6-1FE9-4F1E-8317-D80DA64C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136E03-6235-4CD5-969F-980F98AC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RACE SCREEN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8DB621-0B40-4EDE-AED7-6E2DE508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136257-14C5-45A9-A11B-65DE5A94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HUDを見れば、次の一手がわかる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9E9FB-25AE-4D97-AA77-455B4169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7239000" cy="485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D4BB3-361A-4DE8-85EF-4E9BB4E0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1">
                <a:solidFill>
                  <a:srgbClr val="FF5265"/>
                </a:solidFill>
              </a:defRPr>
            </a:pPr>
            <a:r>
              <a:rPr sz="1425" b="1">
                <a:solidFill>
                  <a:srgbClr val="FF5265"/>
                </a:solidFill>
              </a:rPr>
              <a:t>P1  LAP 1 /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7FAC3-5383-46E6-BD70-B84DE115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1425" b="1">
                <a:solidFill>
                  <a:srgbClr val="648BFF"/>
                </a:solidFill>
              </a:defRPr>
            </a:pPr>
            <a:r>
              <a:rPr sz="1425" b="1">
                <a:solidFill>
                  <a:srgbClr val="648BFF"/>
                </a:solidFill>
              </a:rPr>
              <a:t>CPU  LAP 1 /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0B95D-7311-40A8-B66E-BB3A7F98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3DFCC0-9B26-46B3-B9DD-35CB7CFA7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CEA69-56EE-4B9C-9BEA-74C6251D7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E077FB-871D-4015-A899-DBFA2D77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642655-37F8-4C54-9B28-16A395A9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C0285D-3202-48E0-A26E-FD03536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D2B86B-8509-4B51-8E6B-DC34CF8B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365372-C3EE-4070-AF47-44C96E5D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EC1A7E-2EDF-46ED-816B-D2F8CC82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C42A3-8FA4-4078-9C31-A999A6E7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DECD84-76E4-4BAA-8F62-EC83C9186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ED998B-F314-4D80-AA53-1954B41E6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45E219-C699-4DCF-AC38-8CDDBE316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E525A-3B59-4E5C-A429-448C05303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30413F-205D-448F-8AA4-A99DB223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43A7B1-9E6A-4FC5-ADAF-E37358DE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B5DF1A-836A-4D37-95E9-72B8AAEF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305175"/>
            <a:ext cx="4857750" cy="2476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3F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FD7A0B-75B8-45AF-B606-0B6189C8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800475"/>
            <a:ext cx="2914650" cy="1485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92A7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6D4DC5-7590-43E3-A280-FF8BAFD6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5286375"/>
            <a:ext cx="38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4FA5FF-2116-484C-8519-B284BCC3B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471" y="53077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F71567-B1AA-4645-9031-A18E05DA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437" y="53629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6EA899-3C01-4F68-9743-8A2BC943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5346" y="3974211"/>
            <a:ext cx="464058" cy="24307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0B2F98-61E0-4DA4-BF33-59E263D4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0312" y="4029456"/>
            <a:ext cx="254127" cy="12706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C6A9021-9A4A-4DE1-928A-9F9ABC80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3413" y="5286375"/>
            <a:ext cx="47625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6D78F5-B541-403C-B0BF-455AAA90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9907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周回数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9EF37B-C878-4F5E-905F-FE4C99AA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1240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D32A7C-E040-4852-B186-09E0DB25A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384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8段階BOOST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30CAB9-7562-44A0-BDC2-5E35A7F0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717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3EE86B-B066-4F82-8F40-EEC8B23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052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D35A"/>
                </a:solidFill>
              </a:defRPr>
            </a:pPr>
            <a:r>
              <a:rPr sz="1350" b="1">
                <a:solidFill>
                  <a:srgbClr val="FFD35A"/>
                </a:solidFill>
              </a:rPr>
              <a:t>アクティブゲート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704C16-248C-41D3-9280-6E20C173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385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6D1C063-3706-4E18-84D5-7A430E8A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91050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FF5265"/>
                </a:solidFill>
              </a:defRPr>
            </a:pPr>
            <a:r>
              <a:rPr sz="1350" b="1">
                <a:solidFill>
                  <a:srgbClr val="FF5265"/>
                </a:solidFill>
              </a:rPr>
              <a:t>赤=P1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18AFBA-DF43-46F8-8305-622041AF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724400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E7B6D0-04D0-48C8-B26B-C5D9D81B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343525"/>
            <a:ext cx="2152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648BFF"/>
                </a:solidFill>
              </a:defRPr>
            </a:pPr>
            <a:r>
              <a:rPr sz="1350" b="1">
                <a:solidFill>
                  <a:srgbClr val="648BFF"/>
                </a:solidFill>
              </a:rPr>
              <a:t>青=P2 / CPU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7B8F87-A118-433D-9D77-C3458A08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4768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ACB142-9CBF-4E1C-ACD1-2234185E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59904DE-2C53-4DA5-A780-DB1A5D3D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D806F1-ABFA-4F1F-9DE0-18EBBAF2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732712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57D222-E63D-49E6-9BC2-83EB197DF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6F244-0899-469E-BECE-2ED93663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1 / RULES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C69CA-7C3B-45C4-8495-20893962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339EE7-E777-4D57-A401-244C40B3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レースを決める4つのルール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FA73B-BD62-4DEA-B5B5-41EEF587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920B29-96B0-4745-8870-E4D3F793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35F2EA"/>
                </a:solidFill>
              </a:defRPr>
            </a:pPr>
            <a:r>
              <a:rPr sz="1875" b="1">
                <a:solidFill>
                  <a:srgbClr val="35F2EA"/>
                </a:solidFill>
              </a:rPr>
              <a:t>3 LAPS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C245D8-272F-4D82-A7E4-E6FFD738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スタートラインを正方向へ通過すると周回が進む。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E2AA49-51EC-4AC8-B3E5-2CDCA974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859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3E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CC3462-6D5A-429E-912C-6721A348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RESULT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FBC6D8-3D42-46FA-A645-7A86AE4B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7622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勝者と両車の周回数を表示。約5秒後にタイトルへ。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F44E3-76B9-4118-BA04-EEEA88F9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DB0910-392E-4883-8D98-16D12044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FFD35A"/>
                </a:solidFill>
              </a:defRPr>
            </a:pPr>
            <a:r>
              <a:rPr sz="1875" b="1">
                <a:solidFill>
                  <a:srgbClr val="FFD35A"/>
                </a:solidFill>
              </a:rPr>
              <a:t>INPUT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7FA3B-9190-4923-BAA2-DC56C341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ゴール時の入力を離すまで復帰タイマーは開始しない。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E4B27D-B637-456D-8F12-347BC2E8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29150"/>
            <a:ext cx="48006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61A5AD-E659-47D1-A3F1-BE66122C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76800"/>
            <a:ext cx="426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1">
                <a:solidFill>
                  <a:srgbClr val="648BFF"/>
                </a:solidFill>
              </a:defRPr>
            </a:pPr>
            <a:r>
              <a:rPr sz="1875" b="1">
                <a:solidFill>
                  <a:srgbClr val="648BFF"/>
                </a:solidFill>
              </a:rPr>
              <a:t>ESC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1E95B5-FFC0-462D-9299-CCA0BBB1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505450"/>
            <a:ext cx="42672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レース中はタイトルへ戻る。タイトルでは終了しない。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751E1C-88B9-48ED-9BEC-038E5A6F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655E00-E30E-437E-97D0-FDD03E8D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640811-78E6-487B-AD45-69ABEF84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790488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1F1902-C305-4F35-8F4B-DBE66974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2DB93-C888-4EED-8AA4-72DB72D7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1 / BOOST + ACTIVE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6C451F-812E-48D5-A348-ED0E9419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A32A1-E922-40D4-BA41-B14AE898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ゲートとブーストが、レースラインを変える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2F57A1-9AC9-40EB-9BEC-E72CDFE1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5265"/>
                </a:solidFill>
              </a:defRPr>
            </a:pPr>
            <a:r>
              <a:rPr sz="2550" b="1">
                <a:solidFill>
                  <a:srgbClr val="FF5265"/>
                </a:solidFill>
              </a:rPr>
              <a:t>BOOST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2E8BE4-8844-4AF8-81CB-51A6F6F2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E5A33-D4CD-48B6-AA29-F2C26484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D7C845-3A39-4B5C-B1BE-E4941B0F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BE09E8-3FAE-4009-89EA-5302DB49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957D1A-B8CD-4988-A683-F99587E8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B2B989-75C7-4D1A-8D60-7466C227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C79120-ADD2-4796-B8A6-7AE5489D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5270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5F682-B6A4-4D7F-BA69-5E09D676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55270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796A13-76A1-4831-94DD-CFBAAF2F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4016" y="3467481"/>
            <a:ext cx="944118" cy="49453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3F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17D7AE-23C4-4B0D-8BD7-BC828C0B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7567" y="3579876"/>
            <a:ext cx="517017" cy="258508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9E24D-B241-4032-8462-129C41125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19588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1B7263-B1F3-469F-969B-F7A68B2A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6247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8597CC-36AA-41B0-ACCF-3C4B9D45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667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通常最高速320を超え、最高速512・加速度32で加速。使用中は車体が高輝度化し、ゲージが減る。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FEF447-3B7A-44BE-BD99-02AA9E6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1809750"/>
            <a:ext cx="19050" cy="527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6573E3-1097-4AA3-8B15-491EF170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6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550" b="1">
                <a:solidFill>
                  <a:srgbClr val="FFD35A"/>
                </a:solidFill>
              </a:defRPr>
            </a:pPr>
            <a:r>
              <a:rPr sz="2550" b="1">
                <a:solidFill>
                  <a:srgbClr val="FFD35A"/>
                </a:solidFill>
              </a:rPr>
              <a:t>ACTIVE GATE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A603D-F3B7-49FF-932D-428305AB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810000" cy="233362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928C93-9CA7-4171-BA78-33D6012A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86100"/>
            <a:ext cx="2286000" cy="1400175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44888A-9C1F-43A8-B1C7-A2927F27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86275"/>
            <a:ext cx="38100" cy="466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A44C18-035A-4C75-A82C-C7A0C29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713" y="4476750"/>
            <a:ext cx="6667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B8DD3C-0A19-47F8-824E-3B47AAC1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476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3000"/>
              </a:lnSpc>
              <a:buNone/>
              <a:defRPr sz="1575" b="0">
                <a:solidFill>
                  <a:srgbClr val="F3FBFF"/>
                </a:solidFill>
              </a:defRPr>
            </a:pPr>
            <a:r>
              <a:rPr sz="1575" b="0">
                <a:solidFill>
                  <a:srgbClr val="F3FBFF"/>
                </a:solidFill>
              </a:rPr>
              <a:t>3つのゲートは内・中・外のいずれかで点灯。先着でブースト回復。取得後は約3秒消灯する。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0639E2-FFCF-4ECD-AA31-B09B56D68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7ED5B0-2299-4B7B-AA64-1D13E89F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7C14EB-F319-49F1-B839-C2272576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0901006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48527A-77FD-420B-9902-04D97C9A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FE3CDC-8B52-48F5-A05E-72F1F936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1 / BATTLE SYSTEMS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34D8B-C5B3-498A-9213-35A498DA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7F8393-AA5A-4F0F-8B87-3F2A29217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接触と追走が、逆転の武器になる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49B38-33DF-4D58-968B-A75C61BB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97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00AFB0-44FC-44C5-A192-3C781433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35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ACF114-6B89-4193-ABBF-DB4AD036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0458" y="2584133"/>
            <a:ext cx="680085" cy="35623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AF5E8-C0E9-4959-B1D9-E764B994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286" y="2665095"/>
            <a:ext cx="372428" cy="18621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DB1BC-6625-4D43-9A66-167989274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38438"/>
            <a:ext cx="552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F77000-09F5-49A0-9E33-464F7242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FF3ED1"/>
                </a:solidFill>
              </a:defRPr>
            </a:pPr>
            <a:r>
              <a:rPr sz="1950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72CF3-6F45-44FC-976B-7DF6BE0E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4762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相手へ向かってドリフトしながら接触すると押し出せる。壁際では追加減速。ただし攻撃側も少し失速する。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C87A30-DE4F-4AD4-9372-25A88661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90700"/>
            <a:ext cx="1905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7E6325-CD0A-43FC-8681-64A6E2D1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24050"/>
            <a:ext cx="4648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950" b="1">
                <a:solidFill>
                  <a:srgbClr val="35F2EA"/>
                </a:solidFill>
              </a:defRPr>
            </a:pPr>
            <a:r>
              <a:rPr sz="1950" b="1">
                <a:solidFill>
                  <a:srgbClr val="35F2EA"/>
                </a:solidFill>
              </a:rPr>
              <a:t>CATCH-UP BOOST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F27AEF-89A4-4FB5-A5CF-9018DF27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F02A75-3947-4EB1-9BDE-AF65D94B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26098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BA48B4-2B55-4199-99D2-33BAC6AB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D9D63-C689-48EB-A305-6AEE1585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8D2B49-A0CF-4735-BD89-629D1C4C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220612-80A7-44DA-8316-BFFEE849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539CFA-9225-4BE9-98AF-ACCC0EC9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B9B266-27AC-426D-92C5-D52866A7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26098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BAFFB0-AC4B-4EEA-8508-02DDE09D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001F23-AD7C-4649-A8B7-4F711645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47D993-F725-4F79-89EB-29C683FB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9FE2EC-BC6F-4EC1-9F11-C6661983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2A1DFD-EB43-41EF-AD66-3FDCA279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289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F7668B-DD73-4B3A-8E6C-BE85B483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542D1B-33A2-4B6F-8CFE-A64E1471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3C2718-A39B-42CA-B5D8-FC449C5E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30289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120213-B8FA-4CA7-A8B3-C2E0A0C7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19500"/>
            <a:ext cx="44767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近距離では同じレーンで約0.3秒追走し、DRAFTからSLIPへ移行。毎更新12回復し、自動加速はしない。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643204-B95D-4990-BB5B-CCED31F17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61975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1">
                <a:solidFill>
                  <a:srgbClr val="FFD35A"/>
                </a:solidFill>
              </a:defRPr>
            </a:pPr>
            <a:r>
              <a:rPr sz="1650" b="1">
                <a:solidFill>
                  <a:srgbClr val="FFD35A"/>
                </a:solidFill>
              </a:rPr>
              <a:t>CPU LEVEL 1  2  3  4  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63AB59-BD7F-47BC-84C9-D627D966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61150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92A7B8"/>
                </a:solidFill>
              </a:defRPr>
            </a:pPr>
            <a:r>
              <a:rPr sz="1425" b="0">
                <a:solidFill>
                  <a:srgbClr val="92A7B8"/>
                </a:solidFill>
              </a:rPr>
              <a:t>同じ物理。違う判断速度。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29B5B4-7ADA-4A36-898E-5DC5B02E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B0820C-0AFD-4376-8C98-3D0AD8E9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8E9C09-95A8-44D0-BE4D-DC256E87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  <p:sp>
        <p:nvSpPr>
          <p:cNvPr id="37" name="slip-label-cover">
            <a:extLst xmlns:a="http://schemas.openxmlformats.org/drawingml/2006/main">
              <a:ext uri="{FF2B5EF4-FFF2-40B4-BE49-F238E27FC236}">
                <a16:creationId xmlns:a16="http://schemas.microsoft.com/office/drawing/2014/main" id="{98A72BF5-F931-4DC8-AC61-C795D71D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85950"/>
            <a:ext cx="4476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38" name="slip-label">
            <a:extLst xmlns:a="http://schemas.openxmlformats.org/drawingml/2006/main">
              <a:ext uri="{FF2B5EF4-FFF2-40B4-BE49-F238E27FC236}">
                <a16:creationId xmlns:a16="http://schemas.microsoft.com/office/drawing/2014/main" id="{EA90B79F-113B-4FDE-A902-B071B48F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9431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SLIPSTREAM + CATCH-UP</a:t>
            </a:r>
          </a:p>
        </p:txBody>
      </p:sp>
    </p:spTree>
    <p:extLst>
      <p:ext uri="{BB962C8B-B14F-4D97-AF65-F5344CB8AC3E}">
        <p14:creationId xmlns:p14="http://schemas.microsoft.com/office/powerpoint/2010/main" val="20125219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C8AC5-08D2-41FE-A2AA-B477C7C1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7EB91-689A-444F-9FD5-B49321A1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648BFF"/>
                </a:solidFill>
              </a:defRPr>
            </a:pPr>
            <a:r>
              <a:rPr sz="1125" b="1">
                <a:solidFill>
                  <a:srgbClr val="648BFF"/>
                </a:solidFill>
              </a:rPr>
              <a:t>PART 1 / CPU LEVEL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08E9F-3C3D-4A01-8D37-68A794D5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BB588-7BAE-4B19-9CDF-09DC123F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CPU LEVELは、判断速度と狙いの精度を変える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D09E0-9438-496E-9FB5-54615956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LEVEL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32A6F-280A-48E4-A095-E5DC1483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8859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挙動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749D1-A167-4A65-BF63-F6B627F9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859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>
                <a:solidFill>
                  <a:srgbClr val="92A7B8"/>
                </a:solidFill>
              </a:defRPr>
            </a:pPr>
            <a:r>
              <a:rPr sz="1275" b="1">
                <a:solidFill>
                  <a:srgbClr val="92A7B8"/>
                </a:solidFill>
              </a:rPr>
              <a:t>おすすめ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BA092-866F-4513-A12B-3705B22F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93D6D-B53C-4DB7-A694-2AEF8A1F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0028A-6DC7-4CAC-ABE3-508F119FF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431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ゆっくり / 誤差大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B7806-3E22-4E10-A59E-C778149D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431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はじめて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D6B631-F184-4F2C-A6F9-EF45F9B2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6CDD9-E4A6-49DB-8267-29199B23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099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CB4947-C10B-4087-A82F-6530F3D1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4385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短いBOOST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BE130D-01CB-479F-8301-93C8756B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385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操作練習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4E8FAD-5881-4A00-A0C7-6BAD0B08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D27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479CF8-E240-4DD8-83C0-58124AFB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4D811B-B5C3-401D-A883-E3578005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3338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標準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017825-5690-4875-8DBF-4A912F9F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338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通常プレイ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9D5753-B068-437B-A5AB-931A60307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337031-437E-4B41-A37B-A0CCD3A2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006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AD9E23-96BA-4E72-A320-515E35F5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22922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速い / 長いBOOST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DDAD9-20A1-4171-B8AB-44E2961A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292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上級者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A67C55-3E61-48BF-AED1-6B080DAC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1700"/>
            <a:ext cx="10058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26390F-0347-440F-9FA7-C0A691DA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9600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F3FBFF"/>
                </a:solidFill>
              </a:defRPr>
            </a:pPr>
            <a:r>
              <a:rPr sz="2025" b="1">
                <a:solidFill>
                  <a:srgbClr val="F3FBF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54A95C-EE02-4C82-99E5-27C7663E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124575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3FBFF"/>
                </a:solidFill>
              </a:defRPr>
            </a:pPr>
            <a:r>
              <a:rPr sz="1500" b="1">
                <a:solidFill>
                  <a:srgbClr val="F3FBFF"/>
                </a:solidFill>
              </a:rPr>
              <a:t>高速 / 高精度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C8FA3E-99ED-4ABD-AD46-A1B0563B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1245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チャレンジ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F04696-531F-4905-8326-2C0A658D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0"/>
            <a:ext cx="10058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0">
                <a:solidFill>
                  <a:srgbClr val="FFD35A"/>
                </a:solidFill>
              </a:defRPr>
            </a:pPr>
            <a:r>
              <a:rPr sz="1500" b="0">
                <a:solidFill>
                  <a:srgbClr val="FFD35A"/>
                </a:solidFill>
              </a:rPr>
              <a:t>CPUが大きく先行するとBOOSTを控える。全LEVELで速度上限とレースルールは共通。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639098-3873-4A06-A0E7-D5EC54B2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A2ED78-B2A3-48BF-9291-A70F29C7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2EC852-BE8C-479A-99B5-ACC550E5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4614467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6DC962-D4DB-4ED7-B78F-A511BB96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4884A-5047-4CDD-87D5-A436AD1D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239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5250" b="1">
                <a:solidFill>
                  <a:srgbClr val="FF3ED1"/>
                </a:solidFill>
              </a:defRPr>
            </a:pPr>
            <a:r>
              <a:rPr sz="5250" b="1">
                <a:solidFill>
                  <a:srgbClr val="FF3ED1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B6D4FE-B699-471C-B92D-64260AB2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600" b="1">
                <a:solidFill>
                  <a:srgbClr val="F3FBFF"/>
                </a:solidFill>
              </a:defRPr>
            </a:pPr>
            <a:r>
              <a:rPr sz="3600" b="1">
                <a:solidFill>
                  <a:srgbClr val="F3FBFF"/>
                </a:solidFill>
              </a:rPr>
              <a:t>PART 2 / RACING GUIDE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4E81E-67C8-4B1A-B08F-FD128DEF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81350"/>
            <a:ext cx="838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75" b="0">
                <a:solidFill>
                  <a:srgbClr val="92A7B8"/>
                </a:solidFill>
              </a:defRPr>
            </a:pPr>
            <a:r>
              <a:rPr sz="1875" b="0">
                <a:solidFill>
                  <a:srgbClr val="92A7B8"/>
                </a:solidFill>
              </a:rPr>
              <a:t>速さだけでは勝てない。ライン、ゲート、接触を組み立てる。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D851CE-8225-45BB-91AA-CB62612A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60DD8-2B4B-47A1-AFFA-07F72B8E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2714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8E5FF-E1BF-4C4D-9829-78512EA22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9629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FD0E95-6171-485B-B292-8A8CC673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543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1288A-3F5D-4066-A6E1-74B670D8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718457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2E756-FA81-41EF-8CFB-6C9FBE4B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2155371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D5D631-B98A-4226-B653-B804E047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3592286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7DC3A6-B7FB-4010-BA67-C95FDFB3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57750"/>
            <a:ext cx="502920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A48B82-BC03-460F-9278-91E0F8D9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8226" y="5348288"/>
            <a:ext cx="233354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31C9A5-E849-41A5-9467-68B9B085A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619" y="5843588"/>
            <a:ext cx="4264762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498396-DC46-4630-A7F2-2DE7211E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7013" y="6338888"/>
            <a:ext cx="6195974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8922A0-8C78-47B4-85A2-6E5E4EDD5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1406" y="6834188"/>
            <a:ext cx="8127187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79D849-92FA-47BC-853B-0EF37088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329488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BDD5D7-CDB6-4531-A228-D46A1231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14850"/>
            <a:ext cx="5143500" cy="2000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3E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AECB12-5A3F-4063-B5C5-3F79A017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3086100" cy="12001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0566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DB3E7D-9450-40AE-84F8-AEF57B9F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6115050"/>
            <a:ext cx="38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E8BD5-8A8A-48C1-A6D0-C9CCA7C0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4464" y="5983224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4E73F9-13B7-4BC8-AA7C-A96B90A6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4766" y="6051804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8700DD-BAF1-4FAB-9E99-DCB94325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1364" y="5306949"/>
            <a:ext cx="576072" cy="30175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4222E8-CAFF-45D8-9451-26F7E89C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1666" y="5375529"/>
            <a:ext cx="315468" cy="157734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7EDFA2-AC69-4580-AAB4-FE45148B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77150"/>
            <a:ext cx="1005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35F2EA"/>
                </a:solidFill>
              </a:defRPr>
            </a:pPr>
            <a:r>
              <a:rPr sz="1350" b="1">
                <a:solidFill>
                  <a:srgbClr val="35F2EA"/>
                </a:solidFill>
              </a:rPr>
              <a:t>LINE  /  GATE  /  TACKLE  /  BOOST</a:t>
            </a:r>
          </a:p>
        </p:txBody>
      </p:sp>
    </p:spTree>
    <p:extLst>
      <p:ext uri="{BB962C8B-B14F-4D97-AF65-F5344CB8AC3E}">
        <p14:creationId xmlns:p14="http://schemas.microsoft.com/office/powerpoint/2010/main" val="8883288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20B5E6-323E-4264-A70A-01384857F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8EFAFA-ECD4-4706-88E1-77A7E3CB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35F2EA"/>
                </a:solidFill>
              </a:defRPr>
            </a:pPr>
            <a:r>
              <a:rPr sz="1125" b="1">
                <a:solidFill>
                  <a:srgbClr val="35F2EA"/>
                </a:solidFill>
              </a:rPr>
              <a:t>PART 2 / BASIC TECHNIQUE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21219-F0A1-4F11-8E04-D244B711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ACFE0-B6A5-4DB8-8251-16CA6859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基本は中央。次のゲートを早く見る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12F60-F01A-4320-BF19-E84844FC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8C2E3C-8417-40AB-9B45-97E612D0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8286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60F4CB-40A6-470C-AE87-820AAA57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6971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E4AF81-C951-45FA-88DA-74A84CFE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5657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83D288-09C2-4274-8798-4F4DFC84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729343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C249D-DBA0-4AE7-85DD-BCBDFFCB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2188029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2F8A6E-C53A-4930-9A67-E9BC7446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3646714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5B5DF-762D-48C9-A6CD-DFACD823F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524500"/>
            <a:ext cx="5105400" cy="2000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830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B2FF65-95CF-4A43-9909-4BA5F9F1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547" y="5919788"/>
            <a:ext cx="236890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A3CD92-05FA-4CC7-8EE8-7B49F515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310" y="6319838"/>
            <a:ext cx="4329379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733DDA-238A-4AD1-8512-1B9045BE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0074" y="6719888"/>
            <a:ext cx="6289853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77832-B29B-48DD-80C2-83601E05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837" y="7119938"/>
            <a:ext cx="8250326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B2067A-5413-4C54-A6C6-798E2CD4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5199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4F30F-2871-4EE1-9AEB-EF8F311D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16B41F-8E5E-4A8F-9FA6-BA73363B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CENTER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37C2B-A059-4281-8D73-65E4559F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START直後は中央を維持。内外どちらのゲートにも対応できる。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CFF1F6-F3AD-4ADF-BA8E-08655FCD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216CEB-42D5-4FE4-A589-BDA01D88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LOOK AHEAD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CF8D5-1C06-4E2D-9DF0-D1A3C5CD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相手ではなく次のゲートを見る。直前の大移動は損。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41F9DF-455C-42E7-BCCA-BC94FD78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479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0E4E35-A5C4-43E5-93E7-0AC81ADC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124075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BRAKE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1130F5-BF04-4E21-B84A-F675FC9E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76500"/>
            <a:ext cx="2628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停止だけでなく、間合い調整やタックル回避に使う。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4E2E51-C7FB-4E5A-BED6-BEDA469A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48250"/>
            <a:ext cx="3810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B91BCF-19E4-4922-951A-02FF4744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6959" y="6314694"/>
            <a:ext cx="656082" cy="34366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137CFD-336B-4744-9243-06323471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5359" y="6392799"/>
            <a:ext cx="359283" cy="179642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9AB15A-42DE-4263-9694-3E96CD69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0F2E24-80CB-4B56-A049-FB937909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28D3FE-9ED0-4F35-B50A-C9477E37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192500242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A50023-9B28-49F2-9F5A-E7E9FF9D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2BC99E-7605-4D4A-B074-AEA04C18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5265"/>
                </a:solidFill>
              </a:defRPr>
            </a:pPr>
            <a:r>
              <a:rPr sz="1125" b="1">
                <a:solidFill>
                  <a:srgbClr val="FF5265"/>
                </a:solidFill>
              </a:rPr>
              <a:t>PART 2 / BOOST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A84E6-374E-44E4-A2F1-C0D0A617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0D996D-62E1-4657-992F-EB59CC93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BOOSTは短く、再加速と追走へ配分する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85B067-7C79-4FF7-9206-E2FEF3A2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5CB48-78AB-49E5-B0A1-819158EB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002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短いバースト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41A1F4-63D7-4997-9E6D-1A260E72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5241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押し続けず、コーナー出口や接触後に使う。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F791B-DBA5-4807-9C0D-2F42FE18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93C360-1FC9-46B1-911D-2B6E7744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8EB2B-7FAC-4AE7-A7C0-09A767BE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526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265"/>
          </a:solidFill>
          <a:ln xmlns:a="http://schemas.openxmlformats.org/drawingml/2006/main" w="9525">
            <a:solidFill>
              <a:srgbClr val="FF526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B2498-10B4-4C9B-855A-6656F056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9989C-EA5A-4950-914A-7D2734B6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11D9CF-890E-43B9-85DD-2F489326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77997E-7482-4D52-8F7C-2F0B4430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712C22-BAB3-42BF-A438-D82202640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526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CA033-BF37-465C-A780-C803A53F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66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A2AD1-FB8C-44E9-B5A4-60E5D04A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2FCAE2-74E1-4095-9490-86F73745B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6766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ゲート前に残す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AC6D3E-B4D3-4CCF-98F6-CCBFF3AD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2005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横移動やタックル後の再加速分を確保。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8DCBFE-5FF7-48A5-8C6D-E670BD1A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20D09F-549C-4F7C-9C76-E71722ECE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8290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9525">
            <a:solidFill>
              <a:srgbClr val="FFD35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EF2689-C46A-4EFA-B200-2CB30061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15899C-B69E-47B2-8F2C-AE39335B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A9A180-4E81-4473-970A-FE9B1558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3BA956-2ADC-4D91-9044-A99748BF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7261C0-87DB-419E-96A5-6BAB0A03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A2B65C-1FB4-49BB-ADE2-0673E4DC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8290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6B6232-0854-4003-8796-0D48231A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30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E1BB3C-F5E6-47CF-B0C6-F4D31F81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628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250" b="1">
                <a:solidFill>
                  <a:srgbClr val="FF5265"/>
                </a:solidFill>
              </a:defRPr>
            </a:pPr>
            <a:r>
              <a:rPr sz="2250" b="1">
                <a:solidFill>
                  <a:srgbClr val="FF5265"/>
                </a:solidFill>
              </a:rPr>
              <a:t>03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909970-2A5C-4EEC-9576-148A56EE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3530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1">
                <a:solidFill>
                  <a:srgbClr val="F3FBFF"/>
                </a:solidFill>
              </a:defRPr>
            </a:pPr>
            <a:r>
              <a:rPr sz="1725" b="1">
                <a:solidFill>
                  <a:srgbClr val="F3FBFF"/>
                </a:solidFill>
              </a:rPr>
              <a:t>後続回復を使う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0B0BD7-819B-4915-819C-BDF4A143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876925"/>
            <a:ext cx="4991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92A7B8"/>
                </a:solidFill>
              </a:defRPr>
            </a:pPr>
            <a:r>
              <a:rPr sz="1500" b="0">
                <a:solidFill>
                  <a:srgbClr val="92A7B8"/>
                </a:solidFill>
              </a:rPr>
              <a:t>回復が始まったら小刻みに使って差を詰める。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3E69BB-BE5F-4741-A11D-9DAA40E72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4934A5-56CC-46F5-BB53-317194A1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C4950-1B4C-4F0C-A7B9-0CB8F4C75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992D53-5D5F-4461-B563-8A8321E4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D69E18-72C1-4EB7-9AC5-39F01D11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5C4361C-0D32-4048-A150-0294E114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05450"/>
            <a:ext cx="2190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8BFF"/>
          </a:solidFill>
          <a:ln xmlns:a="http://schemas.openxmlformats.org/drawingml/2006/main" w="9525">
            <a:solidFill>
              <a:srgbClr val="648B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67A66C-15D3-4156-B22E-6DC0A505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0D637F-7E21-4305-85D4-6E8FD3604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05450"/>
            <a:ext cx="2190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0566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4D4345D-7A97-4435-B2B8-CC63D1F0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29413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0FDD37A-EE89-428B-9636-CFCEB71D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2AA4DA-2827-4836-B418-06F28BC2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F654F1-F1EC-44AD-A914-C2D44B9A8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8736514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B12225-149C-42C2-ADD1-6190E937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BA5F1-A881-42A2-881F-8ED1D1C8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D35A"/>
                </a:solidFill>
              </a:defRPr>
            </a:pPr>
            <a:r>
              <a:rPr sz="1125" b="1">
                <a:solidFill>
                  <a:srgbClr val="FFD35A"/>
                </a:solidFill>
              </a:rPr>
              <a:t>PART 2 / GATE + TACKLE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8A9EF-A70B-4A54-82A8-640B3D78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93587A-D605-4357-9D34-F7B2F399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ゲート争奪は、取る判断と捨てる判断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FF96B1-D0C1-4A7C-BAF5-C982E2276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3333750" cy="2571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6F791-AE47-4F33-BED5-344FB9C89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05050"/>
            <a:ext cx="2000250" cy="1543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0566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D237C-E05D-4880-917B-18A86E86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848100"/>
            <a:ext cx="381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643405-CAF7-49BE-99F7-FC21D553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9098" y="36947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26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13CB0-061A-4297-8FDB-9B991547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634" y="37471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6C1185-EDC0-416A-91DB-A4C6DE410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973" y="2856548"/>
            <a:ext cx="440055" cy="230505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48B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FACB94-3B3A-4ED0-8303-A5A81D18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3509" y="2908935"/>
            <a:ext cx="240983" cy="120491"/>
          </a:xfrm>
          <a:prstGeom xmlns:a="http://schemas.openxmlformats.org/drawingml/2006/main" prst="trapezoid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9694BB-4E12-486F-9FB0-D165AF22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848100"/>
            <a:ext cx="57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376E28-56CF-4BB5-B9A0-7790133D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2435FC-E215-40A8-AFB9-40768807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764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1つ先を見る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A7B72-F168-478B-AD75-3A7A0D58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288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遠いゲートを無理に追わず、次へ備える。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E19874-CC5C-4993-88F1-3FC76E9D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BE58A1-638B-4CC1-A5E7-A5BEC49A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3377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3ED1"/>
                </a:solidFill>
              </a:defRPr>
            </a:pPr>
            <a:r>
              <a:rPr sz="1500" b="1">
                <a:solidFill>
                  <a:srgbClr val="FF3ED1"/>
                </a:solidFill>
              </a:rPr>
              <a:t>同じレーンへ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70F2EF-1EAB-40FD-B7C9-4AADF91C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相手の進路に入り、タックル機会を作る。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973F6D-D3CA-4922-BAA0-25F7ED5C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285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D4054E-7606-4E6B-B0F4-4006BF75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4914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FFD35A"/>
                </a:solidFill>
              </a:defRPr>
            </a:pPr>
            <a:r>
              <a:rPr sz="1500" b="1">
                <a:solidFill>
                  <a:srgbClr val="FFD35A"/>
                </a:solidFill>
              </a:rPr>
              <a:t>消灯中に戻る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41F407-CCA9-419E-875B-CF7888A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43550"/>
            <a:ext cx="4914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3FBFF"/>
                </a:solidFill>
              </a:defRPr>
            </a:pPr>
            <a:r>
              <a:rPr sz="1500" b="0">
                <a:solidFill>
                  <a:srgbClr val="F3FBFF"/>
                </a:solidFill>
              </a:rPr>
              <a:t>取得後は中央へ戻り、次の点灯へ備える。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13324A-5931-403E-A295-0077F234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292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875" b="1">
                <a:solidFill>
                  <a:srgbClr val="FF3ED1"/>
                </a:solidFill>
              </a:defRPr>
            </a:pPr>
            <a:r>
              <a:rPr sz="1875" b="1">
                <a:solidFill>
                  <a:srgbClr val="FF3ED1"/>
                </a:solidFill>
              </a:rPr>
              <a:t>DRIFT TACKLE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B9A9FC-F7D5-42D9-B801-2E619648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619750"/>
            <a:ext cx="36004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壁際で最大効果。先行中はレーンを譲る判断も重要。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D092E0-E79B-452A-A8C5-166E6005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C249FA-C9DB-4E3B-8F97-CAD356C89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94E97C-4B9A-4410-B1D0-6E702B5B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73422639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ackground">
            <a:extLst xmlns:a="http://schemas.openxmlformats.org/drawingml/2006/main">
              <a:ext uri="{FF2B5EF4-FFF2-40B4-BE49-F238E27FC236}">
                <a16:creationId xmlns:a16="http://schemas.microsoft.com/office/drawing/2014/main" id="{3C18B250-CEE7-4DCD-9C7C-7E271E540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70A"/>
          </a:solidFill>
          <a:ln xmlns:a="http://schemas.openxmlformats.org/drawingml/2006/main" w="0">
            <a:solidFill>
              <a:srgbClr val="05070A"/>
            </a:solidFill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E7144CF6-9D49-43EB-A007-A3BA35A6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3" name="section">
            <a:extLst xmlns:a="http://schemas.openxmlformats.org/drawingml/2006/main">
              <a:ext uri="{FF2B5EF4-FFF2-40B4-BE49-F238E27FC236}">
                <a16:creationId xmlns:a16="http://schemas.microsoft.com/office/drawing/2014/main" id="{455EEAFA-AA28-4575-A4C9-533D9A9C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PART 2 / SLIPSTREAM</a:t>
            </a:r>
          </a:p>
        </p:txBody>
      </p:sp>
      <p:sp>
        <p:nvSpPr>
          <p:cNvPr id="4" name="header-rule">
            <a:extLst xmlns:a="http://schemas.openxmlformats.org/drawingml/2006/main">
              <a:ext uri="{FF2B5EF4-FFF2-40B4-BE49-F238E27FC236}">
                <a16:creationId xmlns:a16="http://schemas.microsoft.com/office/drawing/2014/main" id="{D37FAD9F-BEBC-4318-B5AA-60E8A019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11646A5D-DB04-4D0E-983E-F003BDDD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4F7FA"/>
                </a:solidFill>
              </a:defRPr>
            </a:pPr>
            <a:r>
              <a:rPr sz="2700" b="1">
                <a:solidFill>
                  <a:srgbClr val="F4F7FA"/>
                </a:solidFill>
              </a:rPr>
              <a:t>同じレーンを維持し、追い越しのBOOSTを作る</a:t>
            </a:r>
          </a:p>
        </p:txBody>
      </p:sp>
      <p:sp>
        <p:nvSpPr>
          <p:cNvPr id="6" name="leader-car">
            <a:extLst xmlns:a="http://schemas.openxmlformats.org/drawingml/2006/main">
              <a:ext uri="{FF2B5EF4-FFF2-40B4-BE49-F238E27FC236}">
                <a16:creationId xmlns:a16="http://schemas.microsoft.com/office/drawing/2014/main" id="{E21FEDB3-C0F7-463C-BBB4-4B22DFEC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4B7DFF"/>
            </a:solidFill>
            <a:prstDash val="solid"/>
          </a:ln>
        </p:spPr>
      </p:sp>
      <p:sp>
        <p:nvSpPr>
          <p:cNvPr id="7" name="trailer-car">
            <a:extLst xmlns:a="http://schemas.openxmlformats.org/drawingml/2006/main">
              <a:ext uri="{FF2B5EF4-FFF2-40B4-BE49-F238E27FC236}">
                <a16:creationId xmlns:a16="http://schemas.microsoft.com/office/drawing/2014/main" id="{21E31F6F-A55E-48EA-B21E-C460F16B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81200"/>
            <a:ext cx="142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506A"/>
            </a:solidFill>
            <a:prstDash val="solid"/>
          </a:ln>
        </p:spPr>
      </p:sp>
      <p:sp>
        <p:nvSpPr>
          <p:cNvPr id="8" name="leader-label">
            <a:extLst xmlns:a="http://schemas.openxmlformats.org/drawingml/2006/main">
              <a:ext uri="{FF2B5EF4-FFF2-40B4-BE49-F238E27FC236}">
                <a16:creationId xmlns:a16="http://schemas.microsoft.com/office/drawing/2014/main" id="{F808F211-A9B3-4DD4-B529-1AF7B93AB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4B7DFF"/>
                </a:solidFill>
              </a:defRPr>
            </a:pPr>
            <a:r>
              <a:rPr sz="1275" b="1">
                <a:solidFill>
                  <a:srgbClr val="4B7DFF"/>
                </a:solidFill>
              </a:rPr>
              <a:t>LEADER / 前車</a:t>
            </a:r>
          </a:p>
        </p:txBody>
      </p:sp>
      <p:sp>
        <p:nvSpPr>
          <p:cNvPr id="9" name="trailer-label">
            <a:extLst xmlns:a="http://schemas.openxmlformats.org/drawingml/2006/main">
              <a:ext uri="{FF2B5EF4-FFF2-40B4-BE49-F238E27FC236}">
                <a16:creationId xmlns:a16="http://schemas.microsoft.com/office/drawing/2014/main" id="{405104E5-4BC3-4492-90F5-54C33E0F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90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506A"/>
                </a:solidFill>
              </a:defRPr>
            </a:pPr>
            <a:r>
              <a:rPr sz="1275" b="1">
                <a:solidFill>
                  <a:srgbClr val="FF506A"/>
                </a:solidFill>
              </a:rPr>
              <a:t>TRAILING / 後続</a:t>
            </a:r>
          </a:p>
        </p:txBody>
      </p:sp>
      <p:sp>
        <p:nvSpPr>
          <p:cNvPr id="10" name="draft-line-1">
            <a:extLst xmlns:a="http://schemas.openxmlformats.org/drawingml/2006/main">
              <a:ext uri="{FF2B5EF4-FFF2-40B4-BE49-F238E27FC236}">
                <a16:creationId xmlns:a16="http://schemas.microsoft.com/office/drawing/2014/main" id="{E902698E-A763-48E6-B2BF-13A2AF23E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14550"/>
            <a:ext cx="180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1" name="draft-line-2">
            <a:extLst xmlns:a="http://schemas.openxmlformats.org/drawingml/2006/main">
              <a:ext uri="{FF2B5EF4-FFF2-40B4-BE49-F238E27FC236}">
                <a16:creationId xmlns:a16="http://schemas.microsoft.com/office/drawing/2014/main" id="{A2D907DC-28E4-4828-89DF-85323C3E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305050"/>
            <a:ext cx="142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2" name="stage-01">
            <a:extLst xmlns:a="http://schemas.openxmlformats.org/drawingml/2006/main">
              <a:ext uri="{FF2B5EF4-FFF2-40B4-BE49-F238E27FC236}">
                <a16:creationId xmlns:a16="http://schemas.microsoft.com/office/drawing/2014/main" id="{941E23A3-F389-4EBF-B4AC-5163385F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E6E6"/>
                </a:solidFill>
              </a:defRPr>
            </a:pPr>
            <a:r>
              <a:rPr sz="1650" b="1">
                <a:solidFill>
                  <a:srgbClr val="00E6E6"/>
                </a:solidFill>
              </a:rPr>
              <a:t>01</a:t>
            </a:r>
          </a:p>
        </p:txBody>
      </p:sp>
      <p:sp>
        <p:nvSpPr>
          <p:cNvPr id="13" name="stage-rule-01">
            <a:extLst xmlns:a="http://schemas.openxmlformats.org/drawingml/2006/main">
              <a:ext uri="{FF2B5EF4-FFF2-40B4-BE49-F238E27FC236}">
                <a16:creationId xmlns:a16="http://schemas.microsoft.com/office/drawing/2014/main" id="{14DD0EE4-CCB6-411D-94C9-3EF36CCF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6E6"/>
          </a:solidFill>
          <a:ln xmlns:a="http://schemas.openxmlformats.org/drawingml/2006/main" w="0">
            <a:solidFill>
              <a:srgbClr val="00E6E6"/>
            </a:solidFill>
            <a:prstDash val="solid"/>
          </a:ln>
        </p:spPr>
      </p:sp>
      <p:sp>
        <p:nvSpPr>
          <p:cNvPr id="14" name="stage-head-01">
            <a:extLst xmlns:a="http://schemas.openxmlformats.org/drawingml/2006/main">
              <a:ext uri="{FF2B5EF4-FFF2-40B4-BE49-F238E27FC236}">
                <a16:creationId xmlns:a16="http://schemas.microsoft.com/office/drawing/2014/main" id="{364774CA-5723-4B64-832C-373CFE3A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0E6E6"/>
                </a:solidFill>
              </a:defRPr>
            </a:pPr>
            <a:r>
              <a:rPr sz="1725" b="1">
                <a:solidFill>
                  <a:srgbClr val="00E6E6"/>
                </a:solidFill>
              </a:rPr>
              <a:t>ALIGN / 同じレーン</a:t>
            </a:r>
          </a:p>
        </p:txBody>
      </p:sp>
      <p:sp>
        <p:nvSpPr>
          <p:cNvPr id="15" name="stage-body-01">
            <a:extLst xmlns:a="http://schemas.openxmlformats.org/drawingml/2006/main">
              <a:ext uri="{FF2B5EF4-FFF2-40B4-BE49-F238E27FC236}">
                <a16:creationId xmlns:a16="http://schemas.microsoft.com/office/drawing/2014/main" id="{4014D785-61AD-4B73-B98E-4FBE5DED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前車のすぐ後ろへ滑らかに合わせる</a:t>
            </a:r>
          </a:p>
        </p:txBody>
      </p:sp>
      <p:sp>
        <p:nvSpPr>
          <p:cNvPr id="16" name="stage-02">
            <a:extLst xmlns:a="http://schemas.openxmlformats.org/drawingml/2006/main">
              <a:ext uri="{FF2B5EF4-FFF2-40B4-BE49-F238E27FC236}">
                <a16:creationId xmlns:a16="http://schemas.microsoft.com/office/drawing/2014/main" id="{CE6958C8-0AC8-4518-B0D0-E90B6F44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D34E"/>
                </a:solidFill>
              </a:defRPr>
            </a:pPr>
            <a:r>
              <a:rPr sz="1650" b="1">
                <a:solidFill>
                  <a:srgbClr val="FFD34E"/>
                </a:solidFill>
              </a:rPr>
              <a:t>02</a:t>
            </a:r>
          </a:p>
        </p:txBody>
      </p:sp>
      <p:sp>
        <p:nvSpPr>
          <p:cNvPr id="17" name="stage-rule-02">
            <a:extLst xmlns:a="http://schemas.openxmlformats.org/drawingml/2006/main">
              <a:ext uri="{FF2B5EF4-FFF2-40B4-BE49-F238E27FC236}">
                <a16:creationId xmlns:a16="http://schemas.microsoft.com/office/drawing/2014/main" id="{8BE64C86-C114-4DC7-A5D6-4C8EFFAC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34E"/>
          </a:solidFill>
          <a:ln xmlns:a="http://schemas.openxmlformats.org/drawingml/2006/main" w="0">
            <a:solidFill>
              <a:srgbClr val="FFD34E"/>
            </a:solidFill>
            <a:prstDash val="solid"/>
          </a:ln>
        </p:spPr>
      </p:sp>
      <p:sp>
        <p:nvSpPr>
          <p:cNvPr id="18" name="stage-head-02">
            <a:extLst xmlns:a="http://schemas.openxmlformats.org/drawingml/2006/main">
              <a:ext uri="{FF2B5EF4-FFF2-40B4-BE49-F238E27FC236}">
                <a16:creationId xmlns:a16="http://schemas.microsoft.com/office/drawing/2014/main" id="{8DABBD53-517D-4617-8A4B-D0F8246B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D34E"/>
                </a:solidFill>
              </a:defRPr>
            </a:pPr>
            <a:r>
              <a:rPr sz="1725" b="1">
                <a:solidFill>
                  <a:srgbClr val="FFD34E"/>
                </a:solidFill>
              </a:rPr>
              <a:t>HOLD / 約0.3秒</a:t>
            </a:r>
          </a:p>
        </p:txBody>
      </p:sp>
      <p:sp>
        <p:nvSpPr>
          <p:cNvPr id="19" name="stage-body-02">
            <a:extLst xmlns:a="http://schemas.openxmlformats.org/drawingml/2006/main">
              <a:ext uri="{FF2B5EF4-FFF2-40B4-BE49-F238E27FC236}">
                <a16:creationId xmlns:a16="http://schemas.microsoft.com/office/drawing/2014/main" id="{C5EB8492-83E4-42D3-AFEB-F92630F51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DRAFTを6回の固定更新でSLIPへ</a:t>
            </a:r>
          </a:p>
        </p:txBody>
      </p:sp>
      <p:sp>
        <p:nvSpPr>
          <p:cNvPr id="20" name="stage-03">
            <a:extLst xmlns:a="http://schemas.openxmlformats.org/drawingml/2006/main">
              <a:ext uri="{FF2B5EF4-FFF2-40B4-BE49-F238E27FC236}">
                <a16:creationId xmlns:a16="http://schemas.microsoft.com/office/drawing/2014/main" id="{5CC3D515-FABE-4F9D-8CBC-D1B1C37A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2425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35D3"/>
                </a:solidFill>
              </a:defRPr>
            </a:pPr>
            <a:r>
              <a:rPr sz="1650" b="1">
                <a:solidFill>
                  <a:srgbClr val="FF35D3"/>
                </a:solidFill>
              </a:rPr>
              <a:t>03</a:t>
            </a:r>
          </a:p>
        </p:txBody>
      </p:sp>
      <p:sp>
        <p:nvSpPr>
          <p:cNvPr id="21" name="stage-rule-03">
            <a:extLst xmlns:a="http://schemas.openxmlformats.org/drawingml/2006/main">
              <a:ext uri="{FF2B5EF4-FFF2-40B4-BE49-F238E27FC236}">
                <a16:creationId xmlns:a16="http://schemas.microsoft.com/office/drawing/2014/main" id="{D6E9717F-EC81-4B08-8717-6E0A3199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9575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5D3"/>
          </a:solidFill>
          <a:ln xmlns:a="http://schemas.openxmlformats.org/drawingml/2006/main" w="0">
            <a:solidFill>
              <a:srgbClr val="FF35D3"/>
            </a:solidFill>
            <a:prstDash val="solid"/>
          </a:ln>
        </p:spPr>
      </p:sp>
      <p:sp>
        <p:nvSpPr>
          <p:cNvPr id="22" name="stage-head-03">
            <a:extLst xmlns:a="http://schemas.openxmlformats.org/drawingml/2006/main">
              <a:ext uri="{FF2B5EF4-FFF2-40B4-BE49-F238E27FC236}">
                <a16:creationId xmlns:a16="http://schemas.microsoft.com/office/drawing/2014/main" id="{DB4E3BA2-F02C-4B77-833D-CF4C2DEC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35D3"/>
                </a:solidFill>
              </a:defRPr>
            </a:pPr>
            <a:r>
              <a:rPr sz="1725" b="1">
                <a:solidFill>
                  <a:srgbClr val="FF35D3"/>
                </a:solidFill>
              </a:rPr>
              <a:t>RECOVER / BOOST回復</a:t>
            </a:r>
          </a:p>
        </p:txBody>
      </p:sp>
      <p:sp>
        <p:nvSpPr>
          <p:cNvPr id="23" name="stage-body-03">
            <a:extLst xmlns:a="http://schemas.openxmlformats.org/drawingml/2006/main">
              <a:ext uri="{FF2B5EF4-FFF2-40B4-BE49-F238E27FC236}">
                <a16:creationId xmlns:a16="http://schemas.microsoft.com/office/drawing/2014/main" id="{1A5ED4C7-9763-4544-A9FA-276FCA0B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5775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4F7FA"/>
                </a:solidFill>
              </a:defRPr>
            </a:pPr>
            <a:r>
              <a:rPr sz="1425" b="0">
                <a:solidFill>
                  <a:srgbClr val="F4F7FA"/>
                </a:solidFill>
              </a:rPr>
              <a:t>毎更新12回復・車体と後部ラインが点滅</a:t>
            </a:r>
          </a:p>
        </p:txBody>
      </p:sp>
      <p:sp>
        <p:nvSpPr>
          <p:cNvPr id="24" name="lower-rule">
            <a:extLst xmlns:a="http://schemas.openxmlformats.org/drawingml/2006/main">
              <a:ext uri="{FF2B5EF4-FFF2-40B4-BE49-F238E27FC236}">
                <a16:creationId xmlns:a16="http://schemas.microsoft.com/office/drawing/2014/main" id="{518B8BE0-4973-4043-ADF0-B0993D72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10058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25" name="near">
            <a:extLst xmlns:a="http://schemas.openxmlformats.org/drawingml/2006/main">
              <a:ext uri="{FF2B5EF4-FFF2-40B4-BE49-F238E27FC236}">
                <a16:creationId xmlns:a16="http://schemas.microsoft.com/office/drawing/2014/main" id="{CA407976-97C6-449F-B7D0-D58E0C7E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E6E6"/>
                </a:solidFill>
              </a:defRPr>
            </a:pPr>
            <a:r>
              <a:rPr sz="1350" b="1">
                <a:solidFill>
                  <a:srgbClr val="00E6E6"/>
                </a:solidFill>
              </a:rPr>
              <a:t>NEAR GAP  DRAFT &gt; SLIP</a:t>
            </a:r>
          </a:p>
        </p:txBody>
      </p:sp>
      <p:sp>
        <p:nvSpPr>
          <p:cNvPr id="26" name="large">
            <a:extLst xmlns:a="http://schemas.openxmlformats.org/drawingml/2006/main">
              <a:ext uri="{FF2B5EF4-FFF2-40B4-BE49-F238E27FC236}">
                <a16:creationId xmlns:a16="http://schemas.microsoft.com/office/drawing/2014/main" id="{614F4FBF-B605-4516-8183-DF09CE8F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286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D34E"/>
                </a:solidFill>
              </a:defRPr>
            </a:pPr>
            <a:r>
              <a:rPr sz="1350" b="1">
                <a:solidFill>
                  <a:srgbClr val="FFD34E"/>
                </a:solidFill>
              </a:rPr>
              <a:t>LARGE GAP  距離連動回復</a:t>
            </a:r>
          </a:p>
        </p:txBody>
      </p:sp>
      <p:sp>
        <p:nvSpPr>
          <p:cNvPr id="27" name="auto">
            <a:extLst xmlns:a="http://schemas.openxmlformats.org/drawingml/2006/main">
              <a:ext uri="{FF2B5EF4-FFF2-40B4-BE49-F238E27FC236}">
                <a16:creationId xmlns:a16="http://schemas.microsoft.com/office/drawing/2014/main" id="{2F2A72AE-16CE-4605-9EE9-656CE7249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28650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FF35D3"/>
                </a:solidFill>
              </a:defRPr>
            </a:pPr>
            <a:r>
              <a:rPr sz="1350" b="1">
                <a:solidFill>
                  <a:srgbClr val="FF35D3"/>
                </a:solidFill>
              </a:rPr>
              <a:t>速度は自動上昇しない</a:t>
            </a:r>
          </a:p>
        </p:txBody>
      </p:sp>
      <p:sp>
        <p:nvSpPr>
          <p:cNvPr id="28" name="tip">
            <a:extLst xmlns:a="http://schemas.openxmlformats.org/drawingml/2006/main">
              <a:ext uri="{FF2B5EF4-FFF2-40B4-BE49-F238E27FC236}">
                <a16:creationId xmlns:a16="http://schemas.microsoft.com/office/drawing/2014/main" id="{D018FBB7-879D-454A-B4DA-44631963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250"/>
            <a:ext cx="914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4F7FA"/>
                </a:solidFill>
              </a:defRPr>
            </a:pPr>
            <a:r>
              <a:rPr sz="1500" b="1">
                <a:solidFill>
                  <a:srgbClr val="F4F7FA"/>
                </a:solidFill>
              </a:rPr>
              <a:t>DRAFTを維持し、SLIP点滅後にBOOSTで追い越す。別レーン・1/8周外・接触距離で終了。</a:t>
            </a:r>
          </a:p>
        </p:txBody>
      </p:sp>
      <p:sp>
        <p:nvSpPr>
          <p:cNvPr id="2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44CE917-BA6C-4877-98D1-D5AE35D94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20050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909C"/>
          </a:solidFill>
          <a:ln xmlns:a="http://schemas.openxmlformats.org/drawingml/2006/main" w="0">
            <a:solidFill>
              <a:srgbClr val="78909C"/>
            </a:solidFill>
            <a:prstDash val="solid"/>
          </a:ln>
        </p:spPr>
      </p:sp>
      <p:sp>
        <p:nvSpPr>
          <p:cNvPr id="3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D125CA4-5041-40D4-A429-5949CDBB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96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8909C"/>
                </a:solidFill>
              </a:defRPr>
            </a:pPr>
            <a:r>
              <a:rPr sz="975" b="1">
                <a:solidFill>
                  <a:srgbClr val="78909C"/>
                </a:solidFill>
              </a:rPr>
              <a:t>WIRE DRIFT RACERS</a:t>
            </a:r>
          </a:p>
        </p:txBody>
      </p:sp>
      <p:sp>
        <p:nvSpPr>
          <p:cNvPr id="3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E3C6696-9A0E-4417-A3CF-D9C2B4CB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096250"/>
            <a:ext cx="300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78909C"/>
                </a:solidFill>
              </a:defRPr>
            </a:pPr>
            <a:r>
              <a:rPr sz="975" b="0">
                <a:solidFill>
                  <a:srgbClr val="78909C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20408964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508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7E4B65-3DC5-424E-99EC-5D0A2B71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3E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23E17C-61FC-4108-86FD-BC3C3FF1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FF3ED1"/>
                </a:solidFill>
              </a:defRPr>
            </a:pPr>
            <a:r>
              <a:rPr sz="1125" b="1">
                <a:solidFill>
                  <a:srgbClr val="FF3ED1"/>
                </a:solidFill>
              </a:rPr>
              <a:t>PART 2 / FINAL TACTICS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59833-4EC4-4F92-8E3D-BBACBD6D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103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4E8C6-86D2-44C0-BB0D-589A5E5F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850" b="1">
                <a:solidFill>
                  <a:srgbClr val="F3FBFF"/>
                </a:solidFill>
              </a:defRPr>
            </a:pPr>
            <a:r>
              <a:rPr sz="2850" b="1">
                <a:solidFill>
                  <a:srgbClr val="F3FBFF"/>
                </a:solidFill>
              </a:rPr>
              <a:t>追いついた瞬間が、最大の逆転機会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1BC456-CAA4-428C-BDF6-1513E2CA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526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69D07-7A76-474C-BF9F-E233292F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5265"/>
                </a:solidFill>
              </a:defRPr>
            </a:pPr>
            <a:r>
              <a:rPr sz="1575" b="1">
                <a:solidFill>
                  <a:srgbClr val="FF5265"/>
                </a:solidFill>
              </a:rPr>
              <a:t>内側を取る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54EEA-F196-4822-8628-12165AC9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追いついたら内側から外へ押し出す。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A7B51-3E55-44CF-B88A-ECD980BE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648B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43814-4B88-4B78-9E20-4BCD05DC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648BFF"/>
                </a:solidFill>
              </a:defRPr>
            </a:pPr>
            <a:r>
              <a:rPr sz="1575" b="1">
                <a:solidFill>
                  <a:srgbClr val="648BFF"/>
                </a:solidFill>
              </a:rPr>
              <a:t>CPUの休止を見る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1550E-AAC3-462A-A56E-A76465EA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CPUのBOOST終了後に自分の加速を重ねる。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89050-C1D6-424E-9B68-62DCA6D2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048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1A"/>
          </a:solidFill>
          <a:ln xmlns:a="http://schemas.openxmlformats.org/drawingml/2006/main" w="19050">
            <a:solidFill>
              <a:srgbClr val="FFD3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62436-F231-4C10-A2E7-A02E11FF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336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75" b="1">
                <a:solidFill>
                  <a:srgbClr val="FFD35A"/>
                </a:solidFill>
              </a:defRPr>
            </a:pPr>
            <a:r>
              <a:rPr sz="1575" b="1">
                <a:solidFill>
                  <a:srgbClr val="FFD35A"/>
                </a:solidFill>
              </a:rPr>
              <a:t>LEVEL 4-5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C8D3FC-C90E-4E3F-81B4-04051E13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724150"/>
            <a:ext cx="259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速度勝負を避け、ゲート放棄・壁際タックル・追走回復を組み合わせる。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00C3EE-DBAE-48EA-9953-6F357CF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025" b="1">
                <a:solidFill>
                  <a:srgbClr val="35F2EA"/>
                </a:solidFill>
              </a:defRPr>
            </a:pPr>
            <a:r>
              <a:rPr sz="2025" b="1">
                <a:solidFill>
                  <a:srgbClr val="35F2EA"/>
                </a:solidFill>
              </a:rPr>
              <a:t>2 PLAYERS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4F3C40-8B67-4E3B-8966-DCD89074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4BE6B8-12C1-491A-9892-AD7639120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同時押しが多いときはゲームパッド2台を推奨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2EBBC6-6598-482D-9FC7-A23ABB70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388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7C79E4-2B64-4DFF-B1D4-B5C9739D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600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相手のBOOSTが満タンならゲートよりタックルが有効な場合もある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0864C3-D8AE-4A9C-B5E0-39BEC96B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72200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500" b="1">
                <a:solidFill>
                  <a:srgbClr val="35F2EA"/>
                </a:solidFill>
              </a:defRPr>
            </a:pPr>
            <a:r>
              <a:rPr sz="1500" b="1">
                <a:solidFill>
                  <a:srgbClr val="35F2E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C0940B-8E99-4E23-BA69-49BA6D38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134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F3FBFF"/>
                </a:solidFill>
              </a:defRPr>
            </a:pPr>
            <a:r>
              <a:rPr sz="1425" b="0">
                <a:solidFill>
                  <a:srgbClr val="F3FBFF"/>
                </a:solidFill>
              </a:rPr>
              <a:t>同じ更新でゴールすればDEAD HEAT。最後のラインまで走り切る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648AED-3E7C-4B04-A992-8189B352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19900"/>
            <a:ext cx="1005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0"/>
          </a:solidFill>
          <a:ln xmlns:a="http://schemas.openxmlformats.org/drawingml/2006/main" w="19050">
            <a:solidFill>
              <a:srgbClr val="35F2E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6D36FF-9269-455C-9AE0-B2A532BD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53250"/>
            <a:ext cx="9639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P1  W/S SPEED  A/D DRIFT  Q BOOST  E BRAKE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1">
                <a:solidFill>
                  <a:srgbClr val="F3FBFF"/>
                </a:solidFill>
              </a:defRPr>
            </a:pPr>
            <a:r>
              <a:rPr sz="1350" b="1">
                <a:solidFill>
                  <a:srgbClr val="F3FBFF"/>
                </a:solidFill>
              </a:rPr>
              <a:t>P2  CURSOR SPEED/DRIFT  N BOOST  M BRAKE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57D1D0-B5DB-4033-AF1C-AC818B79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0"/>
            <a:ext cx="1005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650" b="1">
                <a:solidFill>
                  <a:srgbClr val="FF3ED1"/>
                </a:solidFill>
              </a:defRPr>
            </a:pPr>
            <a:r>
              <a:rPr sz="1650" b="1">
                <a:solidFill>
                  <a:srgbClr val="FF3ED1"/>
                </a:solidFill>
              </a:rPr>
              <a:t>GOOD LUCK, RACER.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712732-A600-4B80-B611-5C4BE0C9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15288"/>
            <a:ext cx="1021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56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71248A-6A21-4847-A687-053B2226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WIRE DRIFT RACERS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67A501-60BD-4ED4-8042-A1D61801A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81343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75" b="0">
                <a:solidFill>
                  <a:srgbClr val="92A7B8"/>
                </a:solidFill>
              </a:defRPr>
            </a:pPr>
            <a:r>
              <a:rPr sz="975" b="0">
                <a:solidFill>
                  <a:srgbClr val="92A7B8"/>
                </a:solidFill>
              </a:rPr>
              <a:t>X68000 / 3 LAPS / 2 CARS</a:t>
            </a:r>
          </a:p>
        </p:txBody>
      </p:sp>
    </p:spTree>
    <p:extLst>
      <p:ext uri="{BB962C8B-B14F-4D97-AF65-F5344CB8AC3E}">
        <p14:creationId xmlns:p14="http://schemas.microsoft.com/office/powerpoint/2010/main" val="62244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2026-08-26T07:28:38.9940000Z</dcterms:created>
  <dcterms:modified xsi:type="dcterms:W3CDTF">2026-08-26T07:28:38.9940000Z</dcterms:modified>
</coreProperties>
</file>